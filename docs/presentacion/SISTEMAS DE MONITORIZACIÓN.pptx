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" charset="1" panose="020F0502020204030204"/>
      <p:regular r:id="rId17"/>
    </p:embeddedFont>
    <p:embeddedFont>
      <p:font typeface="Arial Bold" charset="1" panose="020B0704020202020204"/>
      <p:regular r:id="rId18"/>
    </p:embeddedFont>
    <p:embeddedFont>
      <p:font typeface="Calibri (MS) Italics" charset="1" panose="020F05020202040A0204"/>
      <p:regular r:id="rId19"/>
    </p:embeddedFont>
    <p:embeddedFont>
      <p:font typeface="Calibri (MS) Bold" charset="1" panose="020F0702030404030204"/>
      <p:regular r:id="rId20"/>
    </p:embeddedFont>
    <p:embeddedFont>
      <p:font typeface="Consolas" charset="1" panose="020B0609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983463" y="-1109977"/>
            <a:ext cx="4597403" cy="4597403"/>
            <a:chOff x="0" y="0"/>
            <a:chExt cx="6129871" cy="612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29909" cy="6129909"/>
            </a:xfrm>
            <a:custGeom>
              <a:avLst/>
              <a:gdLst/>
              <a:ahLst/>
              <a:cxnLst/>
              <a:rect r="r" b="b" t="t" l="l"/>
              <a:pathLst>
                <a:path h="6129909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cubicBezTo>
                    <a:pt x="4757547" y="0"/>
                    <a:pt x="6129909" y="1372235"/>
                    <a:pt x="6129909" y="3064891"/>
                  </a:cubicBezTo>
                  <a:cubicBezTo>
                    <a:pt x="6129909" y="4757547"/>
                    <a:pt x="4757674" y="6129909"/>
                    <a:pt x="3064891" y="6129909"/>
                  </a:cubicBezTo>
                  <a:cubicBezTo>
                    <a:pt x="1372108" y="6129909"/>
                    <a:pt x="0" y="4757674"/>
                    <a:pt x="0" y="3064891"/>
                  </a:cubicBezTo>
                  <a:close/>
                </a:path>
              </a:pathLst>
            </a:custGeom>
            <a:solidFill>
              <a:srgbClr val="1A6EBD">
                <a:alpha val="5882"/>
              </a:srgbClr>
            </a:solidFill>
            <a:ln w="25400" cap="sq">
              <a:solidFill>
                <a:srgbClr val="1A6EB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263623" y="353063"/>
            <a:ext cx="2768603" cy="2768603"/>
            <a:chOff x="0" y="0"/>
            <a:chExt cx="3691471" cy="36914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91509" cy="3691509"/>
            </a:xfrm>
            <a:custGeom>
              <a:avLst/>
              <a:gdLst/>
              <a:ahLst/>
              <a:cxnLst/>
              <a:rect r="r" b="b" t="t" l="l"/>
              <a:pathLst>
                <a:path h="3691509" w="3691509">
                  <a:moveTo>
                    <a:pt x="0" y="1845691"/>
                  </a:moveTo>
                  <a:cubicBezTo>
                    <a:pt x="0" y="826389"/>
                    <a:pt x="826389" y="0"/>
                    <a:pt x="1845691" y="0"/>
                  </a:cubicBezTo>
                  <a:cubicBezTo>
                    <a:pt x="2864993" y="0"/>
                    <a:pt x="3691509" y="826389"/>
                    <a:pt x="3691509" y="1845691"/>
                  </a:cubicBezTo>
                  <a:cubicBezTo>
                    <a:pt x="3691509" y="2864993"/>
                    <a:pt x="2865120" y="3691509"/>
                    <a:pt x="1845691" y="3691509"/>
                  </a:cubicBezTo>
                  <a:cubicBezTo>
                    <a:pt x="826262" y="3691509"/>
                    <a:pt x="0" y="2865120"/>
                    <a:pt x="0" y="1845691"/>
                  </a:cubicBezTo>
                  <a:close/>
                </a:path>
              </a:pathLst>
            </a:custGeom>
            <a:solidFill>
              <a:srgbClr val="00B4D8">
                <a:alpha val="12157"/>
              </a:srgbClr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64008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4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IES ENRIC SOLER I GODES · ASIX 2025–2026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1828800"/>
            <a:ext cx="15544800" cy="1645920"/>
            <a:chOff x="0" y="0"/>
            <a:chExt cx="20726400" cy="219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072640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SISTEMAS 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3383280"/>
            <a:ext cx="15544800" cy="1645920"/>
            <a:chOff x="0" y="0"/>
            <a:chExt cx="2072640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072640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00B4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MONITORIZACIÓN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5303520"/>
            <a:ext cx="14630400" cy="731520"/>
            <a:chOff x="0" y="0"/>
            <a:chExt cx="195072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5072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E8F1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Vigilancia proactiva · Alertas en tiempo real · Infraestructura open source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6309360"/>
            <a:ext cx="8229600" cy="73152"/>
            <a:chOff x="0" y="0"/>
            <a:chExt cx="10972800" cy="975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97536"/>
            </a:xfrm>
            <a:custGeom>
              <a:avLst/>
              <a:gdLst/>
              <a:ahLst/>
              <a:cxnLst/>
              <a:rect r="r" b="b" t="t" l="l"/>
              <a:pathLst>
                <a:path h="975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1520" y="6675120"/>
            <a:ext cx="12801600" cy="640080"/>
            <a:chOff x="0" y="0"/>
            <a:chExt cx="1706880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68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7068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Kevin Murciano Gadea</a:t>
              </a:r>
              <a:r>
                <a:rPr lang="en-US" sz="2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·   </a:t>
              </a: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Sergio Ferrá Boix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1520" y="7406640"/>
            <a:ext cx="12801600" cy="548640"/>
            <a:chOff x="0" y="0"/>
            <a:chExt cx="170688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7068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Tutor: Isaac García Simarro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081760" y="1645920"/>
            <a:ext cx="3657600" cy="1005840"/>
            <a:chOff x="0" y="0"/>
            <a:chExt cx="4876800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30496" y="0"/>
                  </a:lnTo>
                  <a:cubicBezTo>
                    <a:pt x="4811268" y="0"/>
                    <a:pt x="4876800" y="65532"/>
                    <a:pt x="4876800" y="146304"/>
                  </a:cubicBezTo>
                  <a:lnTo>
                    <a:pt x="4876800" y="1194816"/>
                  </a:lnTo>
                  <a:cubicBezTo>
                    <a:pt x="4876800" y="1275588"/>
                    <a:pt x="4811268" y="1341120"/>
                    <a:pt x="4730496" y="1341120"/>
                  </a:cubicBezTo>
                  <a:lnTo>
                    <a:pt x="146304" y="1341120"/>
                  </a:lnTo>
                  <a:cubicBezTo>
                    <a:pt x="65532" y="1341120"/>
                    <a:pt x="0" y="1275588"/>
                    <a:pt x="0" y="1194816"/>
                  </a:cubicBez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081760" y="1645920"/>
            <a:ext cx="128016" cy="1005840"/>
            <a:chOff x="0" y="0"/>
            <a:chExt cx="170688" cy="1341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356080" y="1645920"/>
            <a:ext cx="3291840" cy="1005840"/>
            <a:chOff x="0" y="0"/>
            <a:chExt cx="43891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389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Proxmox VE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081760" y="3072384"/>
            <a:ext cx="3657600" cy="1005840"/>
            <a:chOff x="0" y="0"/>
            <a:chExt cx="4876800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30496" y="0"/>
                  </a:lnTo>
                  <a:cubicBezTo>
                    <a:pt x="4811268" y="0"/>
                    <a:pt x="4876800" y="65532"/>
                    <a:pt x="4876800" y="146304"/>
                  </a:cubicBezTo>
                  <a:lnTo>
                    <a:pt x="4876800" y="1194816"/>
                  </a:lnTo>
                  <a:cubicBezTo>
                    <a:pt x="4876800" y="1275588"/>
                    <a:pt x="4811268" y="1341120"/>
                    <a:pt x="4730496" y="1341120"/>
                  </a:cubicBezTo>
                  <a:lnTo>
                    <a:pt x="146304" y="1341120"/>
                  </a:lnTo>
                  <a:cubicBezTo>
                    <a:pt x="65532" y="1341120"/>
                    <a:pt x="0" y="1275588"/>
                    <a:pt x="0" y="1194816"/>
                  </a:cubicBez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081760" y="3072384"/>
            <a:ext cx="128016" cy="1005840"/>
            <a:chOff x="0" y="0"/>
            <a:chExt cx="170688" cy="134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356080" y="3072384"/>
            <a:ext cx="3291840" cy="1005840"/>
            <a:chOff x="0" y="0"/>
            <a:chExt cx="4389120" cy="13411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389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Uptime Kuma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081760" y="4498848"/>
            <a:ext cx="3657600" cy="1005840"/>
            <a:chOff x="0" y="0"/>
            <a:chExt cx="487680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30496" y="0"/>
                  </a:lnTo>
                  <a:cubicBezTo>
                    <a:pt x="4811268" y="0"/>
                    <a:pt x="4876800" y="65532"/>
                    <a:pt x="4876800" y="146304"/>
                  </a:cubicBezTo>
                  <a:lnTo>
                    <a:pt x="4876800" y="1194816"/>
                  </a:lnTo>
                  <a:cubicBezTo>
                    <a:pt x="4876800" y="1275588"/>
                    <a:pt x="4811268" y="1341120"/>
                    <a:pt x="4730496" y="1341120"/>
                  </a:cubicBezTo>
                  <a:lnTo>
                    <a:pt x="146304" y="1341120"/>
                  </a:lnTo>
                  <a:cubicBezTo>
                    <a:pt x="65532" y="1341120"/>
                    <a:pt x="0" y="1275588"/>
                    <a:pt x="0" y="1194816"/>
                  </a:cubicBez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081760" y="4498848"/>
            <a:ext cx="128016" cy="1005840"/>
            <a:chOff x="0" y="0"/>
            <a:chExt cx="170688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356080" y="4498848"/>
            <a:ext cx="3291840" cy="1005840"/>
            <a:chOff x="0" y="0"/>
            <a:chExt cx="4389120" cy="13411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389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Pandora FMS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081760" y="5925312"/>
            <a:ext cx="3657600" cy="1005840"/>
            <a:chOff x="0" y="0"/>
            <a:chExt cx="4876800" cy="1341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30496" y="0"/>
                  </a:lnTo>
                  <a:cubicBezTo>
                    <a:pt x="4811268" y="0"/>
                    <a:pt x="4876800" y="65532"/>
                    <a:pt x="4876800" y="146304"/>
                  </a:cubicBezTo>
                  <a:lnTo>
                    <a:pt x="4876800" y="1194816"/>
                  </a:lnTo>
                  <a:cubicBezTo>
                    <a:pt x="4876800" y="1275588"/>
                    <a:pt x="4811268" y="1341120"/>
                    <a:pt x="4730496" y="1341120"/>
                  </a:cubicBezTo>
                  <a:lnTo>
                    <a:pt x="146304" y="1341120"/>
                  </a:lnTo>
                  <a:cubicBezTo>
                    <a:pt x="65532" y="1341120"/>
                    <a:pt x="0" y="1275588"/>
                    <a:pt x="0" y="1194816"/>
                  </a:cubicBez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081760" y="5925312"/>
            <a:ext cx="128016" cy="1005840"/>
            <a:chOff x="0" y="0"/>
            <a:chExt cx="170688" cy="1341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06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356080" y="5925312"/>
            <a:ext cx="3291840" cy="1005840"/>
            <a:chOff x="0" y="0"/>
            <a:chExt cx="438912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389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Gotify / ntfy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097280"/>
            <a:chOff x="0" y="0"/>
            <a:chExt cx="2243328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 problema que resolvemos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3291840" cy="91440"/>
            <a:chOff x="0" y="0"/>
            <a:chExt cx="4389120" cy="12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121920"/>
            </a:xfrm>
            <a:custGeom>
              <a:avLst/>
              <a:gdLst/>
              <a:ahLst/>
              <a:cxnLst/>
              <a:rect r="r" b="b" t="t" l="l"/>
              <a:pathLst>
                <a:path h="1219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2011680"/>
            <a:ext cx="7863840" cy="7132320"/>
            <a:chOff x="0" y="0"/>
            <a:chExt cx="10485120" cy="9509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8512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2011680"/>
            <a:ext cx="7863840" cy="914400"/>
            <a:chOff x="0" y="0"/>
            <a:chExt cx="1048512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8B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2011680"/>
            <a:ext cx="7863840" cy="914400"/>
            <a:chOff x="0" y="0"/>
            <a:chExt cx="1048512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485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ANTES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3200400"/>
            <a:ext cx="7315200" cy="822960"/>
            <a:chOff x="0" y="0"/>
            <a:chExt cx="97536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753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Gestión 100% reactiva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3986784"/>
            <a:ext cx="7315200" cy="27432"/>
            <a:chOff x="0" y="0"/>
            <a:chExt cx="9753600" cy="365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36576"/>
            </a:xfrm>
            <a:custGeom>
              <a:avLst/>
              <a:gdLst/>
              <a:ahLst/>
              <a:cxnLst/>
              <a:rect r="r" b="b" t="t" l="l"/>
              <a:pathLst>
                <a:path h="3657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0F2942">
                <a:alpha val="35686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4206240"/>
            <a:ext cx="7315200" cy="822960"/>
            <a:chOff x="0" y="0"/>
            <a:chExt cx="97536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753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Fallos detectados por usuarios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4992624"/>
            <a:ext cx="7315200" cy="27432"/>
            <a:chOff x="0" y="0"/>
            <a:chExt cx="9753600" cy="365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0" cy="36576"/>
            </a:xfrm>
            <a:custGeom>
              <a:avLst/>
              <a:gdLst/>
              <a:ahLst/>
              <a:cxnLst/>
              <a:rect r="r" b="b" t="t" l="l"/>
              <a:pathLst>
                <a:path h="3657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0F2942">
                <a:alpha val="35686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5212080"/>
            <a:ext cx="7315200" cy="822960"/>
            <a:chOff x="0" y="0"/>
            <a:chExt cx="975360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753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Sin historial de métricas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5998464"/>
            <a:ext cx="7315200" cy="27432"/>
            <a:chOff x="0" y="0"/>
            <a:chExt cx="9753600" cy="365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0" cy="36576"/>
            </a:xfrm>
            <a:custGeom>
              <a:avLst/>
              <a:gdLst/>
              <a:ahLst/>
              <a:cxnLst/>
              <a:rect r="r" b="b" t="t" l="l"/>
              <a:pathLst>
                <a:path h="3657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0F2942">
                <a:alpha val="35686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6217920"/>
            <a:ext cx="7315200" cy="822960"/>
            <a:chOff x="0" y="0"/>
            <a:chExt cx="975360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753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Tiempo de respuesta elevado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7004304"/>
            <a:ext cx="7315200" cy="27432"/>
            <a:chOff x="0" y="0"/>
            <a:chExt cx="9753600" cy="365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36576"/>
            </a:xfrm>
            <a:custGeom>
              <a:avLst/>
              <a:gdLst/>
              <a:ahLst/>
              <a:cxnLst/>
              <a:rect r="r" b="b" t="t" l="l"/>
              <a:pathLst>
                <a:path h="3657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0F2942">
                <a:alpha val="35686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4400" y="7223760"/>
            <a:ext cx="7315200" cy="822960"/>
            <a:chOff x="0" y="0"/>
            <a:chExt cx="975360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753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Sin notificaciones automáticas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8010144"/>
            <a:ext cx="7315200" cy="27432"/>
            <a:chOff x="0" y="0"/>
            <a:chExt cx="9753600" cy="3657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00" cy="36576"/>
            </a:xfrm>
            <a:custGeom>
              <a:avLst/>
              <a:gdLst/>
              <a:ahLst/>
              <a:cxnLst/>
              <a:rect r="r" b="b" t="t" l="l"/>
              <a:pathLst>
                <a:path h="3657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0F2942">
                <a:alpha val="35686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509760" y="2011680"/>
            <a:ext cx="8046720" cy="7132320"/>
            <a:chOff x="0" y="0"/>
            <a:chExt cx="10728960" cy="95097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289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509760" y="2011680"/>
            <a:ext cx="8046720" cy="914400"/>
            <a:chOff x="0" y="0"/>
            <a:chExt cx="1072896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28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A5C3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509760" y="2011680"/>
            <a:ext cx="8046720" cy="914400"/>
            <a:chOff x="0" y="0"/>
            <a:chExt cx="1072896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8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072896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DESPUÉS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92640" y="3200400"/>
            <a:ext cx="7498080" cy="822960"/>
            <a:chOff x="0" y="0"/>
            <a:chExt cx="999744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9974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Monitorización 24/7 automática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92640" y="3986784"/>
            <a:ext cx="7498080" cy="27432"/>
            <a:chOff x="0" y="0"/>
            <a:chExt cx="9997440" cy="3657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97440" cy="36576"/>
            </a:xfrm>
            <a:custGeom>
              <a:avLst/>
              <a:gdLst/>
              <a:ahLst/>
              <a:cxnLst/>
              <a:rect r="r" b="b" t="t" l="l"/>
              <a:pathLst>
                <a:path h="3657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0F2942">
                <a:alpha val="35686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692640" y="4206240"/>
            <a:ext cx="7498080" cy="822960"/>
            <a:chOff x="0" y="0"/>
            <a:chExt cx="999744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9974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Detección inmediata de caídas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92640" y="4992624"/>
            <a:ext cx="7498080" cy="27432"/>
            <a:chOff x="0" y="0"/>
            <a:chExt cx="9997440" cy="365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997440" cy="36576"/>
            </a:xfrm>
            <a:custGeom>
              <a:avLst/>
              <a:gdLst/>
              <a:ahLst/>
              <a:cxnLst/>
              <a:rect r="r" b="b" t="t" l="l"/>
              <a:pathLst>
                <a:path h="3657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0F2942">
                <a:alpha val="35686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92640" y="5212080"/>
            <a:ext cx="7498080" cy="822960"/>
            <a:chOff x="0" y="0"/>
            <a:chExt cx="999744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9974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Historial y métricas en tiempo real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92640" y="5998464"/>
            <a:ext cx="7498080" cy="27432"/>
            <a:chOff x="0" y="0"/>
            <a:chExt cx="9997440" cy="3657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97440" cy="36576"/>
            </a:xfrm>
            <a:custGeom>
              <a:avLst/>
              <a:gdLst/>
              <a:ahLst/>
              <a:cxnLst/>
              <a:rect r="r" b="b" t="t" l="l"/>
              <a:pathLst>
                <a:path h="3657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0F2942">
                <a:alpha val="35686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692640" y="6217920"/>
            <a:ext cx="7498080" cy="822960"/>
            <a:chOff x="0" y="0"/>
            <a:chExt cx="999744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9974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Alertas push en segundos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92640" y="7004304"/>
            <a:ext cx="7498080" cy="27432"/>
            <a:chOff x="0" y="0"/>
            <a:chExt cx="9997440" cy="3657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997440" cy="36576"/>
            </a:xfrm>
            <a:custGeom>
              <a:avLst/>
              <a:gdLst/>
              <a:ahLst/>
              <a:cxnLst/>
              <a:rect r="r" b="b" t="t" l="l"/>
              <a:pathLst>
                <a:path h="3657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0F2942">
                <a:alpha val="35686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692640" y="7223760"/>
            <a:ext cx="7498080" cy="822960"/>
            <a:chOff x="0" y="0"/>
            <a:chExt cx="999744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99974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Coste total: 0 €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92640" y="8010144"/>
            <a:ext cx="7498080" cy="27432"/>
            <a:chOff x="0" y="0"/>
            <a:chExt cx="9997440" cy="3657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997440" cy="36576"/>
            </a:xfrm>
            <a:custGeom>
              <a:avLst/>
              <a:gdLst/>
              <a:ahLst/>
              <a:cxnLst/>
              <a:rect r="r" b="b" t="t" l="l"/>
              <a:pathLst>
                <a:path h="3657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0F2942">
                <a:alpha val="35686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449056" y="5029200"/>
            <a:ext cx="1097280" cy="914400"/>
            <a:chOff x="0" y="0"/>
            <a:chExt cx="146304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02336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Fases de desarrollo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499616"/>
            <a:ext cx="2926080" cy="91440"/>
            <a:chOff x="0" y="0"/>
            <a:chExt cx="3901440" cy="12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121920"/>
            </a:xfrm>
            <a:custGeom>
              <a:avLst/>
              <a:gdLst/>
              <a:ahLst/>
              <a:cxnLst/>
              <a:rect r="r" b="b" t="t" l="l"/>
              <a:pathLst>
                <a:path h="1219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0080" y="4572000"/>
            <a:ext cx="17007840" cy="109728"/>
            <a:chOff x="0" y="0"/>
            <a:chExt cx="22677120" cy="146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77120" cy="146304"/>
            </a:xfrm>
            <a:custGeom>
              <a:avLst/>
              <a:gdLst/>
              <a:ahLst/>
              <a:cxnLst/>
              <a:rect r="r" b="b" t="t" l="l"/>
              <a:pathLst>
                <a:path h="146304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305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920240" y="3657600"/>
            <a:ext cx="109728" cy="1024128"/>
            <a:chOff x="0" y="0"/>
            <a:chExt cx="146304" cy="13655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39C12">
                <a:alpha val="3568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00784" y="4297680"/>
            <a:ext cx="548640" cy="548640"/>
            <a:chOff x="0" y="0"/>
            <a:chExt cx="73152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1828800"/>
            <a:ext cx="2743200" cy="1920240"/>
            <a:chOff x="0" y="0"/>
            <a:chExt cx="3657600" cy="2560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40080" y="1828800"/>
            <a:ext cx="2743200" cy="109728"/>
            <a:chOff x="0" y="0"/>
            <a:chExt cx="3657600" cy="1463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86384" y="2011680"/>
            <a:ext cx="512064" cy="512064"/>
            <a:chOff x="0" y="0"/>
            <a:chExt cx="682752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86384" y="2011680"/>
            <a:ext cx="512064" cy="512064"/>
            <a:chOff x="0" y="0"/>
            <a:chExt cx="682752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82752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08176" y="2011680"/>
            <a:ext cx="1828800" cy="548640"/>
            <a:chOff x="0" y="0"/>
            <a:chExt cx="24384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Entorno Proxmox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86384" y="2633472"/>
            <a:ext cx="2523744" cy="1024128"/>
            <a:chOff x="0" y="0"/>
            <a:chExt cx="3364992" cy="13655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64992" cy="1365504"/>
            </a:xfrm>
            <a:custGeom>
              <a:avLst/>
              <a:gdLst/>
              <a:ahLst/>
              <a:cxnLst/>
              <a:rect r="r" b="b" t="t" l="l"/>
              <a:pathLst>
                <a:path h="1365504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5" t="0" r="-206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364992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Creación de 6 VMs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IPs estáticas asignadas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Bridge de red vmbr0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09744" y="4681728"/>
            <a:ext cx="109728" cy="530352"/>
            <a:chOff x="0" y="0"/>
            <a:chExt cx="146304" cy="7071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" cy="707136"/>
            </a:xfrm>
            <a:custGeom>
              <a:avLst/>
              <a:gdLst/>
              <a:ahLst/>
              <a:cxnLst/>
              <a:rect r="r" b="b" t="t" l="l"/>
              <a:pathLst>
                <a:path h="7071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2ECC71">
                <a:alpha val="35686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590288" y="4297680"/>
            <a:ext cx="548640" cy="548640"/>
            <a:chOff x="0" y="0"/>
            <a:chExt cx="73152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529584" y="5669280"/>
            <a:ext cx="2743200" cy="1920240"/>
            <a:chOff x="0" y="0"/>
            <a:chExt cx="3657600" cy="25603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529584" y="5669280"/>
            <a:ext cx="2743200" cy="109728"/>
            <a:chOff x="0" y="0"/>
            <a:chExt cx="3657600" cy="1463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675888" y="5852160"/>
            <a:ext cx="512064" cy="512064"/>
            <a:chOff x="0" y="0"/>
            <a:chExt cx="682752" cy="6827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675888" y="5852160"/>
            <a:ext cx="512064" cy="512064"/>
            <a:chOff x="0" y="0"/>
            <a:chExt cx="682752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82752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297680" y="5852160"/>
            <a:ext cx="1828800" cy="548640"/>
            <a:chOff x="0" y="0"/>
            <a:chExt cx="24384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Uptime Kuma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675888" y="6473952"/>
            <a:ext cx="2523744" cy="1024128"/>
            <a:chOff x="0" y="0"/>
            <a:chExt cx="3364992" cy="13655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364992" cy="1365504"/>
            </a:xfrm>
            <a:custGeom>
              <a:avLst/>
              <a:gdLst/>
              <a:ahLst/>
              <a:cxnLst/>
              <a:rect r="r" b="b" t="t" l="l"/>
              <a:pathLst>
                <a:path h="1365504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5" t="0" r="-206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364992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Instalación con Docker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Checks HTTP/TCP/DNS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Integración con Gotify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699248" y="3657600"/>
            <a:ext cx="109728" cy="1024128"/>
            <a:chOff x="0" y="0"/>
            <a:chExt cx="146304" cy="13655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1A6EBD">
                <a:alpha val="35686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479792" y="4297680"/>
            <a:ext cx="548640" cy="548640"/>
            <a:chOff x="0" y="0"/>
            <a:chExt cx="7315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419088" y="1828800"/>
            <a:ext cx="2743200" cy="1920240"/>
            <a:chOff x="0" y="0"/>
            <a:chExt cx="3657600" cy="25603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57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419088" y="1828800"/>
            <a:ext cx="2743200" cy="109728"/>
            <a:chOff x="0" y="0"/>
            <a:chExt cx="3657600" cy="1463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565392" y="2011680"/>
            <a:ext cx="512064" cy="512064"/>
            <a:chOff x="0" y="0"/>
            <a:chExt cx="682752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565392" y="2011680"/>
            <a:ext cx="512064" cy="512064"/>
            <a:chOff x="0" y="0"/>
            <a:chExt cx="682752" cy="6827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682752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187184" y="2011680"/>
            <a:ext cx="1828800" cy="548640"/>
            <a:chOff x="0" y="0"/>
            <a:chExt cx="243840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Pandora FMS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565392" y="2633472"/>
            <a:ext cx="2523744" cy="1024128"/>
            <a:chOff x="0" y="0"/>
            <a:chExt cx="3364992" cy="13655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364992" cy="1365504"/>
            </a:xfrm>
            <a:custGeom>
              <a:avLst/>
              <a:gdLst/>
              <a:ahLst/>
              <a:cxnLst/>
              <a:rect r="r" b="b" t="t" l="l"/>
              <a:pathLst>
                <a:path h="1365504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5" t="0" r="-2065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364992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Despliegue en AlmaLinux 9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Agentes instalados en VMs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Protocolo SNMP switches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588752" y="4681728"/>
            <a:ext cx="109728" cy="530352"/>
            <a:chOff x="0" y="0"/>
            <a:chExt cx="146304" cy="70713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" cy="707136"/>
            </a:xfrm>
            <a:custGeom>
              <a:avLst/>
              <a:gdLst/>
              <a:ahLst/>
              <a:cxnLst/>
              <a:rect r="r" b="b" t="t" l="l"/>
              <a:pathLst>
                <a:path h="7071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0B4D8">
                <a:alpha val="35686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369296" y="4297680"/>
            <a:ext cx="548640" cy="548640"/>
            <a:chOff x="0" y="0"/>
            <a:chExt cx="73152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308592" y="5669280"/>
            <a:ext cx="2743200" cy="1920240"/>
            <a:chOff x="0" y="0"/>
            <a:chExt cx="3657600" cy="25603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57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308592" y="5669280"/>
            <a:ext cx="2743200" cy="109728"/>
            <a:chOff x="0" y="0"/>
            <a:chExt cx="3657600" cy="14630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454896" y="5852160"/>
            <a:ext cx="512064" cy="512064"/>
            <a:chOff x="0" y="0"/>
            <a:chExt cx="682752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454896" y="5852160"/>
            <a:ext cx="512064" cy="512064"/>
            <a:chOff x="0" y="0"/>
            <a:chExt cx="682752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682752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076688" y="5852160"/>
            <a:ext cx="1828800" cy="548640"/>
            <a:chOff x="0" y="0"/>
            <a:chExt cx="243840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Alertas Gotify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454896" y="6473952"/>
            <a:ext cx="2523744" cy="1024128"/>
            <a:chOff x="0" y="0"/>
            <a:chExt cx="3364992" cy="136550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364992" cy="1365504"/>
            </a:xfrm>
            <a:custGeom>
              <a:avLst/>
              <a:gdLst/>
              <a:ahLst/>
              <a:cxnLst/>
              <a:rect r="r" b="b" t="t" l="l"/>
              <a:pathLst>
                <a:path h="1365504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5" t="0" r="-2065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364992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Servidor en Docker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 de fallo simulado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Alerta recibida en móvil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478256" y="3657600"/>
            <a:ext cx="109728" cy="1024128"/>
            <a:chOff x="0" y="0"/>
            <a:chExt cx="146304" cy="136550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63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A855F7">
                <a:alpha val="35686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258800" y="4297680"/>
            <a:ext cx="548640" cy="548640"/>
            <a:chOff x="0" y="0"/>
            <a:chExt cx="73152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198096" y="1828800"/>
            <a:ext cx="2743200" cy="1920240"/>
            <a:chOff x="0" y="0"/>
            <a:chExt cx="3657600" cy="25603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7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198096" y="1828800"/>
            <a:ext cx="2743200" cy="109728"/>
            <a:chOff x="0" y="0"/>
            <a:chExt cx="3657600" cy="14630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2344400" y="2011680"/>
            <a:ext cx="512064" cy="512064"/>
            <a:chOff x="0" y="0"/>
            <a:chExt cx="682752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344400" y="2011680"/>
            <a:ext cx="512064" cy="512064"/>
            <a:chOff x="0" y="0"/>
            <a:chExt cx="682752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682752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966192" y="2011680"/>
            <a:ext cx="1828800" cy="548640"/>
            <a:chOff x="0" y="0"/>
            <a:chExt cx="243840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KeePassXC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344400" y="2633472"/>
            <a:ext cx="2523744" cy="1024128"/>
            <a:chOff x="0" y="0"/>
            <a:chExt cx="3364992" cy="136550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364992" cy="1365504"/>
            </a:xfrm>
            <a:custGeom>
              <a:avLst/>
              <a:gdLst/>
              <a:ahLst/>
              <a:cxnLst/>
              <a:rect r="r" b="b" t="t" l="l"/>
              <a:pathLst>
                <a:path h="1365504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5" t="0" r="-2065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3364992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VM Ubuntu Desktop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Credenciales cifradas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Acceso SSH centralizado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6367760" y="4681728"/>
            <a:ext cx="109728" cy="530352"/>
            <a:chOff x="0" y="0"/>
            <a:chExt cx="146304" cy="70713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46304" cy="707136"/>
            </a:xfrm>
            <a:custGeom>
              <a:avLst/>
              <a:gdLst/>
              <a:ahLst/>
              <a:cxnLst/>
              <a:rect r="r" b="b" t="t" l="l"/>
              <a:pathLst>
                <a:path h="7071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8899AA">
                <a:alpha val="35686"/>
              </a:srgbClr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6148304" y="4297680"/>
            <a:ext cx="548640" cy="548640"/>
            <a:chOff x="0" y="0"/>
            <a:chExt cx="731520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8899AA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5087600" y="5669280"/>
            <a:ext cx="2743200" cy="1920240"/>
            <a:chOff x="0" y="0"/>
            <a:chExt cx="3657600" cy="25603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657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5087600" y="5669280"/>
            <a:ext cx="2743200" cy="109728"/>
            <a:chOff x="0" y="0"/>
            <a:chExt cx="3657600" cy="14630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8899AA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5233904" y="5852160"/>
            <a:ext cx="512064" cy="512064"/>
            <a:chOff x="0" y="0"/>
            <a:chExt cx="682752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8899AA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5233904" y="5852160"/>
            <a:ext cx="512064" cy="512064"/>
            <a:chOff x="0" y="0"/>
            <a:chExt cx="682752" cy="68275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682752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5855696" y="5852160"/>
            <a:ext cx="1828800" cy="548640"/>
            <a:chOff x="0" y="0"/>
            <a:chExt cx="2438400" cy="73152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243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+ Docs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5233904" y="6473952"/>
            <a:ext cx="2523744" cy="1024128"/>
            <a:chOff x="0" y="0"/>
            <a:chExt cx="3364992" cy="136550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364992" cy="1365504"/>
            </a:xfrm>
            <a:custGeom>
              <a:avLst/>
              <a:gdLst/>
              <a:ahLst/>
              <a:cxnLst/>
              <a:rect r="r" b="b" t="t" l="l"/>
              <a:pathLst>
                <a:path h="1365504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5" t="0" r="-2065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3364992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Repositorio público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Scripts de instalación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Memoria del proyecto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02336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Ampliación: KS-Dashboard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499616"/>
            <a:ext cx="4389120" cy="91440"/>
            <a:chOff x="0" y="0"/>
            <a:chExt cx="5852160" cy="12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2160" cy="121920"/>
            </a:xfrm>
            <a:custGeom>
              <a:avLst/>
              <a:gdLst/>
              <a:ahLst/>
              <a:cxnLst/>
              <a:rect r="r" b="b" t="t" l="l"/>
              <a:pathLst>
                <a:path h="1219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1828800"/>
            <a:ext cx="8229600" cy="1097280"/>
            <a:chOff x="0" y="0"/>
            <a:chExt cx="109728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E8F1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Portal web centralizado que unifica el acceso a todas las herramientas desde una sola URL.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3145536"/>
            <a:ext cx="8229600" cy="1133856"/>
            <a:chOff x="0" y="0"/>
            <a:chExt cx="10972800" cy="15118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3145536"/>
            <a:ext cx="109728" cy="1133856"/>
            <a:chOff x="0" y="0"/>
            <a:chExt cx="146304" cy="15118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3145536"/>
            <a:ext cx="822960" cy="1133856"/>
            <a:chOff x="0" y="0"/>
            <a:chExt cx="1097280" cy="15118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6773" t="0" r="-12677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97280" cy="1568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🖥️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0240" y="3236976"/>
            <a:ext cx="6858000" cy="475488"/>
            <a:chOff x="0" y="0"/>
            <a:chExt cx="9144000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633984"/>
            </a:xfrm>
            <a:custGeom>
              <a:avLst/>
              <a:gdLst/>
              <a:ahLst/>
              <a:cxnLst/>
              <a:rect r="r" b="b" t="t" l="l"/>
              <a:pathLst>
                <a:path h="63398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034" r="0" b="-2310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1440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20240" y="3712464"/>
            <a:ext cx="6858000" cy="475488"/>
            <a:chOff x="0" y="0"/>
            <a:chExt cx="9144000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633984"/>
            </a:xfrm>
            <a:custGeom>
              <a:avLst/>
              <a:gdLst/>
              <a:ahLst/>
              <a:cxnLst/>
              <a:rect r="r" b="b" t="t" l="l"/>
              <a:pathLst>
                <a:path h="63398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034" r="0" b="-23103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144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HTML/CSS servido con nginx en dos nodos independientes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4462272"/>
            <a:ext cx="8229600" cy="1133856"/>
            <a:chOff x="0" y="0"/>
            <a:chExt cx="10972800" cy="15118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31520" y="4462272"/>
            <a:ext cx="109728" cy="1133856"/>
            <a:chOff x="0" y="0"/>
            <a:chExt cx="146304" cy="15118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5840" y="4462272"/>
            <a:ext cx="822960" cy="1133856"/>
            <a:chOff x="0" y="0"/>
            <a:chExt cx="1097280" cy="15118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6773" t="0" r="-12677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97280" cy="1568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🔀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20240" y="4553712"/>
            <a:ext cx="6858000" cy="475488"/>
            <a:chOff x="0" y="0"/>
            <a:chExt cx="9144000" cy="6339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0" cy="633984"/>
            </a:xfrm>
            <a:custGeom>
              <a:avLst/>
              <a:gdLst/>
              <a:ahLst/>
              <a:cxnLst/>
              <a:rect r="r" b="b" t="t" l="l"/>
              <a:pathLst>
                <a:path h="63398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034" r="0" b="-23103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1440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Alta disponibilidad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20240" y="5029200"/>
            <a:ext cx="6858000" cy="475488"/>
            <a:chOff x="0" y="0"/>
            <a:chExt cx="9144000" cy="6339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0" cy="633984"/>
            </a:xfrm>
            <a:custGeom>
              <a:avLst/>
              <a:gdLst/>
              <a:ahLst/>
              <a:cxnLst/>
              <a:rect r="r" b="b" t="t" l="l"/>
              <a:pathLst>
                <a:path h="63398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034" r="0" b="-23103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144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Keepalived + protocolo VRRP: MASTER y BACKUP comparten una VIP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31520" y="5779008"/>
            <a:ext cx="8229600" cy="1133856"/>
            <a:chOff x="0" y="0"/>
            <a:chExt cx="10972800" cy="15118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5779008"/>
            <a:ext cx="109728" cy="1133856"/>
            <a:chOff x="0" y="0"/>
            <a:chExt cx="146304" cy="15118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05840" y="5779008"/>
            <a:ext cx="822960" cy="1133856"/>
            <a:chOff x="0" y="0"/>
            <a:chExt cx="1097280" cy="15118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6773" t="0" r="-12677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097280" cy="1568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20240" y="5870448"/>
            <a:ext cx="6858000" cy="475488"/>
            <a:chOff x="0" y="0"/>
            <a:chExt cx="9144000" cy="6339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0" cy="633984"/>
            </a:xfrm>
            <a:custGeom>
              <a:avLst/>
              <a:gdLst/>
              <a:ahLst/>
              <a:cxnLst/>
              <a:rect r="r" b="b" t="t" l="l"/>
              <a:pathLst>
                <a:path h="63398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034" r="0" b="-23103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1440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Failover &lt; 3 seg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920240" y="6345936"/>
            <a:ext cx="6858000" cy="475488"/>
            <a:chOff x="0" y="0"/>
            <a:chExt cx="9144000" cy="6339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0" cy="633984"/>
            </a:xfrm>
            <a:custGeom>
              <a:avLst/>
              <a:gdLst/>
              <a:ahLst/>
              <a:cxnLst/>
              <a:rect r="r" b="b" t="t" l="l"/>
              <a:pathLst>
                <a:path h="63398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034" r="0" b="-23103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144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 el MASTER cae, el BACKUP adquiere la IP virtual automáticamente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31520" y="7095744"/>
            <a:ext cx="8229600" cy="1133856"/>
            <a:chOff x="0" y="0"/>
            <a:chExt cx="10972800" cy="15118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31520" y="7095744"/>
            <a:ext cx="109728" cy="1133856"/>
            <a:chOff x="0" y="0"/>
            <a:chExt cx="146304" cy="15118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05840" y="7095744"/>
            <a:ext cx="822960" cy="1133856"/>
            <a:chOff x="0" y="0"/>
            <a:chExt cx="1097280" cy="15118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6773" t="0" r="-12677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097280" cy="1568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🔁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920240" y="7187184"/>
            <a:ext cx="6858000" cy="475488"/>
            <a:chOff x="0" y="0"/>
            <a:chExt cx="9144000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0" cy="633984"/>
            </a:xfrm>
            <a:custGeom>
              <a:avLst/>
              <a:gdLst/>
              <a:ahLst/>
              <a:cxnLst/>
              <a:rect r="r" b="b" t="t" l="l"/>
              <a:pathLst>
                <a:path h="63398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034" r="0" b="-23103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1440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Sincronización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920240" y="7662672"/>
            <a:ext cx="6858000" cy="475488"/>
            <a:chOff x="0" y="0"/>
            <a:chExt cx="9144000" cy="6339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0" cy="633984"/>
            </a:xfrm>
            <a:custGeom>
              <a:avLst/>
              <a:gdLst/>
              <a:ahLst/>
              <a:cxnLst/>
              <a:rect r="r" b="b" t="t" l="l"/>
              <a:pathLst>
                <a:path h="63398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034" r="0" b="-23103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144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lsyncd replica cambios en tiempo real al nodo backup via rsync/SSH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31520" y="8412480"/>
            <a:ext cx="8229600" cy="1133856"/>
            <a:chOff x="0" y="0"/>
            <a:chExt cx="10972800" cy="151180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31520" y="8412480"/>
            <a:ext cx="109728" cy="1133856"/>
            <a:chOff x="0" y="0"/>
            <a:chExt cx="146304" cy="151180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3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05840" y="8412480"/>
            <a:ext cx="822960" cy="1133856"/>
            <a:chOff x="0" y="0"/>
            <a:chExt cx="1097280" cy="15118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6773" t="0" r="-12677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1097280" cy="1568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20240" y="8503920"/>
            <a:ext cx="6858000" cy="475488"/>
            <a:chOff x="0" y="0"/>
            <a:chExt cx="9144000" cy="63398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0" cy="633984"/>
            </a:xfrm>
            <a:custGeom>
              <a:avLst/>
              <a:gdLst/>
              <a:ahLst/>
              <a:cxnLst/>
              <a:rect r="r" b="b" t="t" l="l"/>
              <a:pathLst>
                <a:path h="63398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034" r="0" b="-23103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1440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Seguridad HA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920240" y="8979408"/>
            <a:ext cx="6858000" cy="475488"/>
            <a:chOff x="0" y="0"/>
            <a:chExt cx="9144000" cy="6339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0" cy="633984"/>
            </a:xfrm>
            <a:custGeom>
              <a:avLst/>
              <a:gdLst/>
              <a:ahLst/>
              <a:cxnLst/>
              <a:rect r="r" b="b" t="t" l="l"/>
              <a:pathLst>
                <a:path h="63398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034" r="0" b="-23103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144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VRRP solo entre nodos, autenticación con contraseña, claves SSH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92640" y="1828800"/>
            <a:ext cx="7955280" cy="7955280"/>
            <a:chOff x="0" y="0"/>
            <a:chExt cx="10607040" cy="106070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60704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92640" y="1828800"/>
            <a:ext cx="7955280" cy="731520"/>
            <a:chOff x="0" y="0"/>
            <a:chExt cx="10607040" cy="9753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607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6070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400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HA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247120" y="2834640"/>
            <a:ext cx="4846320" cy="1005840"/>
            <a:chOff x="0" y="0"/>
            <a:chExt cx="6461760" cy="13411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4617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461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315456" y="0"/>
                  </a:lnTo>
                  <a:cubicBezTo>
                    <a:pt x="6396228" y="0"/>
                    <a:pt x="6461760" y="65532"/>
                    <a:pt x="6461760" y="146304"/>
                  </a:cubicBezTo>
                  <a:lnTo>
                    <a:pt x="6461760" y="1194816"/>
                  </a:lnTo>
                  <a:cubicBezTo>
                    <a:pt x="6461760" y="1275588"/>
                    <a:pt x="6396228" y="1341120"/>
                    <a:pt x="6315456" y="1341120"/>
                  </a:cubicBezTo>
                  <a:lnTo>
                    <a:pt x="146304" y="1341120"/>
                  </a:lnTo>
                  <a:cubicBezTo>
                    <a:pt x="65532" y="1341120"/>
                    <a:pt x="0" y="1275588"/>
                    <a:pt x="0" y="1194816"/>
                  </a:cubicBez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247120" y="2834640"/>
            <a:ext cx="4846320" cy="1005840"/>
            <a:chOff x="0" y="0"/>
            <a:chExt cx="6461760" cy="13411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4617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64617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🌐  VIP  10.2.1.165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167360" y="3877056"/>
            <a:ext cx="1005840" cy="548640"/>
            <a:chOff x="0" y="0"/>
            <a:chExt cx="134112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13411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247120" y="4425696"/>
            <a:ext cx="4846320" cy="822960"/>
            <a:chOff x="0" y="0"/>
            <a:chExt cx="6461760" cy="10972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339840" y="0"/>
                  </a:lnTo>
                  <a:cubicBezTo>
                    <a:pt x="6407150" y="0"/>
                    <a:pt x="6461760" y="54610"/>
                    <a:pt x="6461760" y="121920"/>
                  </a:cubicBezTo>
                  <a:lnTo>
                    <a:pt x="6461760" y="975360"/>
                  </a:lnTo>
                  <a:cubicBezTo>
                    <a:pt x="6461760" y="1042670"/>
                    <a:pt x="6407150" y="1097280"/>
                    <a:pt x="6339840" y="1097280"/>
                  </a:cubicBezTo>
                  <a:lnTo>
                    <a:pt x="121920" y="1097280"/>
                  </a:lnTo>
                  <a:cubicBezTo>
                    <a:pt x="54610" y="1097280"/>
                    <a:pt x="0" y="1042670"/>
                    <a:pt x="0" y="975360"/>
                  </a:cubicBezTo>
                  <a:close/>
                </a:path>
              </a:pathLst>
            </a:custGeom>
            <a:solidFill>
              <a:srgbClr val="1A305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247120" y="4425696"/>
            <a:ext cx="4846320" cy="822960"/>
            <a:chOff x="0" y="0"/>
            <a:chExt cx="6461760" cy="10972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745" r="0" b="-6474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64617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Keepalived (VRRP)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607040" y="5266944"/>
            <a:ext cx="914400" cy="548640"/>
            <a:chOff x="0" y="0"/>
            <a:chExt cx="1219200" cy="7315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1219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↙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813280" y="5266944"/>
            <a:ext cx="914400" cy="548640"/>
            <a:chOff x="0" y="0"/>
            <a:chExt cx="1219200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1219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↘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966960" y="5852160"/>
            <a:ext cx="3474720" cy="1645920"/>
            <a:chOff x="0" y="0"/>
            <a:chExt cx="4632960" cy="21945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632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966960" y="5852160"/>
            <a:ext cx="3474720" cy="128016"/>
            <a:chOff x="0" y="0"/>
            <a:chExt cx="4632960" cy="17068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632960" cy="170688"/>
            </a:xfrm>
            <a:custGeom>
              <a:avLst/>
              <a:gdLst/>
              <a:ahLst/>
              <a:cxnLst/>
              <a:rect r="r" b="b" t="t" l="l"/>
              <a:pathLst>
                <a:path h="1706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966960" y="5998464"/>
            <a:ext cx="3474720" cy="640080"/>
            <a:chOff x="0" y="0"/>
            <a:chExt cx="4632960" cy="8534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463296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EC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MASTER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966960" y="6638544"/>
            <a:ext cx="3474720" cy="640080"/>
            <a:chOff x="0" y="0"/>
            <a:chExt cx="4632960" cy="8534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nginx  ·  10.2.1.166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4081760" y="5852160"/>
            <a:ext cx="3474720" cy="1645920"/>
            <a:chOff x="0" y="0"/>
            <a:chExt cx="4632960" cy="21945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632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4081760" y="5852160"/>
            <a:ext cx="3474720" cy="128016"/>
            <a:chOff x="0" y="0"/>
            <a:chExt cx="4632960" cy="17068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632960" cy="170688"/>
            </a:xfrm>
            <a:custGeom>
              <a:avLst/>
              <a:gdLst/>
              <a:ahLst/>
              <a:cxnLst/>
              <a:rect r="r" b="b" t="t" l="l"/>
              <a:pathLst>
                <a:path h="1706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4081760" y="5998464"/>
            <a:ext cx="3474720" cy="640080"/>
            <a:chOff x="0" y="0"/>
            <a:chExt cx="4632960" cy="8534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463296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39C1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BACKUP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4081760" y="6638544"/>
            <a:ext cx="3474720" cy="640080"/>
            <a:chOff x="0" y="0"/>
            <a:chExt cx="463296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nginx  ·  10.2.1.164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966960" y="7717536"/>
            <a:ext cx="7680960" cy="548640"/>
            <a:chOff x="0" y="0"/>
            <a:chExt cx="10241280" cy="7315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⟵ lsyncd ⟶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02336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Seguridad de la infraestructura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499616"/>
            <a:ext cx="4572000" cy="91440"/>
            <a:chOff x="0" y="0"/>
            <a:chExt cx="6096000" cy="12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96000" cy="121920"/>
            </a:xfrm>
            <a:custGeom>
              <a:avLst/>
              <a:gdLst/>
              <a:ahLst/>
              <a:cxnLst/>
              <a:rect r="r" b="b" t="t" l="l"/>
              <a:pathLst>
                <a:path h="1219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0080" y="1920240"/>
            <a:ext cx="5669280" cy="3474720"/>
            <a:chOff x="0" y="0"/>
            <a:chExt cx="7559040" cy="4632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5904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1920240"/>
            <a:ext cx="5669280" cy="109728"/>
            <a:chOff x="0" y="0"/>
            <a:chExt cx="7559040" cy="1463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59040" cy="146304"/>
            </a:xfrm>
            <a:custGeom>
              <a:avLst/>
              <a:gdLst/>
              <a:ahLst/>
              <a:cxnLst/>
              <a:rect r="r" b="b" t="t" l="l"/>
              <a:pathLst>
                <a:path h="14630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103120"/>
            <a:ext cx="914400" cy="822960"/>
            <a:chOff x="0" y="0"/>
            <a:chExt cx="12192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219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🔑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28800" y="2103120"/>
            <a:ext cx="4297680" cy="822960"/>
            <a:chOff x="0" y="0"/>
            <a:chExt cx="57302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730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Contraseñas robustas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3017520"/>
            <a:ext cx="5303520" cy="54864"/>
            <a:chOff x="0" y="0"/>
            <a:chExt cx="7071360" cy="731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73152"/>
            </a:xfrm>
            <a:custGeom>
              <a:avLst/>
              <a:gdLst/>
              <a:ahLst/>
              <a:cxnLst/>
              <a:rect r="r" b="b" t="t" l="l"/>
              <a:pathLst>
                <a:path h="731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39C12">
                <a:alpha val="12157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3163824"/>
            <a:ext cx="5303520" cy="2048256"/>
            <a:chOff x="0" y="0"/>
            <a:chExt cx="7071360" cy="27310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71360" cy="2731008"/>
            </a:xfrm>
            <a:custGeom>
              <a:avLst/>
              <a:gdLst/>
              <a:ahLst/>
              <a:cxnLst/>
              <a:rect r="r" b="b" t="t" l="l"/>
              <a:pathLst>
                <a:path h="27310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731008"/>
                  </a:lnTo>
                  <a:lnTo>
                    <a:pt x="0" y="2731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" r="0" b="-45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071360" cy="2769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Mínimo 12 caracteres en todos los servicios. Credenciales almacenadas cifradas en KeePassXC. Sin contraseñas en texto plano.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47104" y="3918184"/>
            <a:ext cx="5669280" cy="3474720"/>
            <a:chOff x="0" y="0"/>
            <a:chExt cx="7559040" cy="463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5904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47104" y="3918184"/>
            <a:ext cx="5669280" cy="109728"/>
            <a:chOff x="0" y="0"/>
            <a:chExt cx="7559040" cy="1463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9040" cy="146304"/>
            </a:xfrm>
            <a:custGeom>
              <a:avLst/>
              <a:gdLst/>
              <a:ahLst/>
              <a:cxnLst/>
              <a:rect r="r" b="b" t="t" l="l"/>
              <a:pathLst>
                <a:path h="14630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29984" y="4101064"/>
            <a:ext cx="914400" cy="822960"/>
            <a:chOff x="0" y="0"/>
            <a:chExt cx="121920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219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35824" y="4101064"/>
            <a:ext cx="4297680" cy="822960"/>
            <a:chOff x="0" y="0"/>
            <a:chExt cx="57302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730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Acceso solo desde LAN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29984" y="5015464"/>
            <a:ext cx="5303520" cy="54864"/>
            <a:chOff x="0" y="0"/>
            <a:chExt cx="7071360" cy="731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73152"/>
            </a:xfrm>
            <a:custGeom>
              <a:avLst/>
              <a:gdLst/>
              <a:ahLst/>
              <a:cxnLst/>
              <a:rect r="r" b="b" t="t" l="l"/>
              <a:pathLst>
                <a:path h="731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A6EBD">
                <a:alpha val="12157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729984" y="5161768"/>
            <a:ext cx="5303520" cy="2048256"/>
            <a:chOff x="0" y="0"/>
            <a:chExt cx="7071360" cy="27310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71360" cy="2731008"/>
            </a:xfrm>
            <a:custGeom>
              <a:avLst/>
              <a:gdLst/>
              <a:ahLst/>
              <a:cxnLst/>
              <a:rect r="r" b="b" t="t" l="l"/>
              <a:pathLst>
                <a:path h="27310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731008"/>
                  </a:lnTo>
                  <a:lnTo>
                    <a:pt x="0" y="2731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" r="0" b="-45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071360" cy="2769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Ningún puerto expuesto a Internet. Las consolas web (3001, 8006, 8080…) son accesibles únicamente desde la red del centro.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454128" y="1920240"/>
            <a:ext cx="5669280" cy="3474720"/>
            <a:chOff x="0" y="0"/>
            <a:chExt cx="7559040" cy="463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5904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454128" y="1920240"/>
            <a:ext cx="5669280" cy="109728"/>
            <a:chOff x="0" y="0"/>
            <a:chExt cx="7559040" cy="1463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59040" cy="146304"/>
            </a:xfrm>
            <a:custGeom>
              <a:avLst/>
              <a:gdLst/>
              <a:ahLst/>
              <a:cxnLst/>
              <a:rect r="r" b="b" t="t" l="l"/>
              <a:pathLst>
                <a:path h="14630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637008" y="2103120"/>
            <a:ext cx="914400" cy="822960"/>
            <a:chOff x="0" y="0"/>
            <a:chExt cx="121920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1219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📦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642848" y="2103120"/>
            <a:ext cx="4297680" cy="822960"/>
            <a:chOff x="0" y="0"/>
            <a:chExt cx="573024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730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Aislamiento por VM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637008" y="3017520"/>
            <a:ext cx="5303520" cy="54864"/>
            <a:chOff x="0" y="0"/>
            <a:chExt cx="7071360" cy="731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71360" cy="73152"/>
            </a:xfrm>
            <a:custGeom>
              <a:avLst/>
              <a:gdLst/>
              <a:ahLst/>
              <a:cxnLst/>
              <a:rect r="r" b="b" t="t" l="l"/>
              <a:pathLst>
                <a:path h="731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ECC71">
                <a:alpha val="12157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637008" y="3163824"/>
            <a:ext cx="5303520" cy="2048256"/>
            <a:chOff x="0" y="0"/>
            <a:chExt cx="7071360" cy="27310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71360" cy="2731008"/>
            </a:xfrm>
            <a:custGeom>
              <a:avLst/>
              <a:gdLst/>
              <a:ahLst/>
              <a:cxnLst/>
              <a:rect r="r" b="b" t="t" l="l"/>
              <a:pathLst>
                <a:path h="27310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731008"/>
                  </a:lnTo>
                  <a:lnTo>
                    <a:pt x="0" y="2731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" r="0" b="-45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071360" cy="2769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 servicio corre en su propia máquina virtual. Un fallo o compromiso en un servicio no afecta al resto de la infraestructura.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40080" y="5760720"/>
            <a:ext cx="5669280" cy="3474720"/>
            <a:chOff x="0" y="0"/>
            <a:chExt cx="7559040" cy="4632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55904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40080" y="5760720"/>
            <a:ext cx="5669280" cy="109728"/>
            <a:chOff x="0" y="0"/>
            <a:chExt cx="7559040" cy="1463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59040" cy="146304"/>
            </a:xfrm>
            <a:custGeom>
              <a:avLst/>
              <a:gdLst/>
              <a:ahLst/>
              <a:cxnLst/>
              <a:rect r="r" b="b" t="t" l="l"/>
              <a:pathLst>
                <a:path h="14630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5943600"/>
            <a:ext cx="914400" cy="822960"/>
            <a:chOff x="0" y="0"/>
            <a:chExt cx="121920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1219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🛡️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28800" y="5943600"/>
            <a:ext cx="4297680" cy="822960"/>
            <a:chOff x="0" y="0"/>
            <a:chExt cx="573024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5730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Protección nativa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" y="6858000"/>
            <a:ext cx="5303520" cy="54864"/>
            <a:chOff x="0" y="0"/>
            <a:chExt cx="7071360" cy="731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71360" cy="73152"/>
            </a:xfrm>
            <a:custGeom>
              <a:avLst/>
              <a:gdLst/>
              <a:ahLst/>
              <a:cxnLst/>
              <a:rect r="r" b="b" t="t" l="l"/>
              <a:pathLst>
                <a:path h="731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B4D8">
                <a:alpha val="12157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22960" y="7004304"/>
            <a:ext cx="5303520" cy="2048256"/>
            <a:chOff x="0" y="0"/>
            <a:chExt cx="7071360" cy="273100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071360" cy="2731008"/>
            </a:xfrm>
            <a:custGeom>
              <a:avLst/>
              <a:gdLst/>
              <a:ahLst/>
              <a:cxnLst/>
              <a:rect r="r" b="b" t="t" l="l"/>
              <a:pathLst>
                <a:path h="27310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731008"/>
                  </a:lnTo>
                  <a:lnTo>
                    <a:pt x="0" y="2731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" r="0" b="-45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7071360" cy="2769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Uptime Kuma y Pandora FMS incluyen protección contra fuerza bruta, XSS e inyección SQL de serie en sus interfaces web.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454128" y="5815584"/>
            <a:ext cx="5669280" cy="3474720"/>
            <a:chOff x="0" y="0"/>
            <a:chExt cx="7559040" cy="46329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55904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454128" y="5815584"/>
            <a:ext cx="5669280" cy="109728"/>
            <a:chOff x="0" y="0"/>
            <a:chExt cx="7559040" cy="14630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559040" cy="146304"/>
            </a:xfrm>
            <a:custGeom>
              <a:avLst/>
              <a:gdLst/>
              <a:ahLst/>
              <a:cxnLst/>
              <a:rect r="r" b="b" t="t" l="l"/>
              <a:pathLst>
                <a:path h="14630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37008" y="5998464"/>
            <a:ext cx="914400" cy="822960"/>
            <a:chOff x="0" y="0"/>
            <a:chExt cx="1219200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76200"/>
              <a:ext cx="1219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🔄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642848" y="5998464"/>
            <a:ext cx="4297680" cy="822960"/>
            <a:chOff x="0" y="0"/>
            <a:chExt cx="573024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5730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Actualizaciones continuas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637008" y="6912864"/>
            <a:ext cx="5303520" cy="54864"/>
            <a:chOff x="0" y="0"/>
            <a:chExt cx="7071360" cy="731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071360" cy="73152"/>
            </a:xfrm>
            <a:custGeom>
              <a:avLst/>
              <a:gdLst/>
              <a:ahLst/>
              <a:cxnLst/>
              <a:rect r="r" b="b" t="t" l="l"/>
              <a:pathLst>
                <a:path h="731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A855F7">
                <a:alpha val="12157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637008" y="7059168"/>
            <a:ext cx="5303520" cy="2048256"/>
            <a:chOff x="0" y="0"/>
            <a:chExt cx="7071360" cy="27310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071360" cy="2731008"/>
            </a:xfrm>
            <a:custGeom>
              <a:avLst/>
              <a:gdLst/>
              <a:ahLst/>
              <a:cxnLst/>
              <a:rect r="r" b="b" t="t" l="l"/>
              <a:pathLst>
                <a:path h="27310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731008"/>
                  </a:lnTo>
                  <a:lnTo>
                    <a:pt x="0" y="2731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" r="0" b="-45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7071360" cy="2769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 y contenedores Docker mantenidos al día. Política de actualización regular para cerrar vulnerabilidades conocidas.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02336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Arquitectura del sistema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499616"/>
            <a:ext cx="3657600" cy="91440"/>
            <a:chOff x="0" y="0"/>
            <a:chExt cx="4876800" cy="12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21920"/>
            </a:xfrm>
            <a:custGeom>
              <a:avLst/>
              <a:gdLst/>
              <a:ahLst/>
              <a:cxnLst/>
              <a:rect r="r" b="b" t="t" l="l"/>
              <a:pathLst>
                <a:path h="1219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0080" y="1828800"/>
            <a:ext cx="17007840" cy="1188720"/>
            <a:chOff x="0" y="0"/>
            <a:chExt cx="22677120" cy="1584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771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1A203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1828800"/>
            <a:ext cx="146304" cy="1188720"/>
            <a:chOff x="0" y="0"/>
            <a:chExt cx="195072" cy="15849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" cy="1584960"/>
            </a:xfrm>
            <a:custGeom>
              <a:avLst/>
              <a:gdLst/>
              <a:ahLst/>
              <a:cxnLst/>
              <a:rect r="r" b="b" t="t" l="l"/>
              <a:pathLst>
                <a:path h="158496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5840" y="1828800"/>
            <a:ext cx="16459200" cy="1188720"/>
            <a:chOff x="0" y="0"/>
            <a:chExt cx="21945600" cy="1584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94560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🖥️  Servidor físico  ·  Proxmox VE 8.x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3383280"/>
            <a:ext cx="4114800" cy="4572000"/>
            <a:chOff x="0" y="0"/>
            <a:chExt cx="5486400" cy="609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0080" y="3383280"/>
            <a:ext cx="4114800" cy="146304"/>
            <a:chOff x="0" y="0"/>
            <a:chExt cx="5486400" cy="195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3566160"/>
            <a:ext cx="3749040" cy="548640"/>
            <a:chOff x="0" y="0"/>
            <a:chExt cx="49987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VM 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4059936"/>
            <a:ext cx="3749040" cy="640080"/>
            <a:chOff x="0" y="0"/>
            <a:chExt cx="499872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9987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Uptime Kuma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718304"/>
            <a:ext cx="3749040" cy="54864"/>
            <a:chOff x="0" y="0"/>
            <a:chExt cx="4998720" cy="731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98720" cy="73152"/>
            </a:xfrm>
            <a:custGeom>
              <a:avLst/>
              <a:gdLst/>
              <a:ahLst/>
              <a:cxnLst/>
              <a:rect r="r" b="b" t="t" l="l"/>
              <a:pathLst>
                <a:path h="731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ECC71">
                <a:alpha val="24706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4846320"/>
            <a:ext cx="3749040" cy="1828800"/>
            <a:chOff x="0" y="0"/>
            <a:chExt cx="4998720" cy="2438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987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9987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 · TCP · DNS · Ping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· Puerto 3001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7223760"/>
            <a:ext cx="3749040" cy="512064"/>
            <a:chOff x="0" y="0"/>
            <a:chExt cx="499872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4901184" y="0"/>
                  </a:lnTo>
                  <a:cubicBezTo>
                    <a:pt x="4955032" y="0"/>
                    <a:pt x="4998720" y="43688"/>
                    <a:pt x="4998720" y="97536"/>
                  </a:cubicBezTo>
                  <a:lnTo>
                    <a:pt x="4998720" y="585216"/>
                  </a:lnTo>
                  <a:cubicBezTo>
                    <a:pt x="4998720" y="639064"/>
                    <a:pt x="4955032" y="682752"/>
                    <a:pt x="4901184" y="682752"/>
                  </a:cubicBezTo>
                  <a:lnTo>
                    <a:pt x="97536" y="682752"/>
                  </a:lnTo>
                  <a:cubicBezTo>
                    <a:pt x="43688" y="682752"/>
                    <a:pt x="0" y="639064"/>
                    <a:pt x="0" y="585216"/>
                  </a:cubicBezTo>
                  <a:close/>
                </a:path>
              </a:pathLst>
            </a:custGeom>
            <a:solidFill>
              <a:srgbClr val="0F294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7223760"/>
            <a:ext cx="3749040" cy="512064"/>
            <a:chOff x="0" y="0"/>
            <a:chExt cx="4998720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658" r="0" b="-9265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998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ECC71"/>
                  </a:solidFill>
                  <a:latin typeface="Consolas"/>
                  <a:ea typeface="Consolas"/>
                  <a:cs typeface="Consolas"/>
                  <a:sym typeface="Consolas"/>
                </a:rPr>
                <a:t>10.2.1.168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992624" y="3383280"/>
            <a:ext cx="4114800" cy="4572000"/>
            <a:chOff x="0" y="0"/>
            <a:chExt cx="5486400" cy="6096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864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992624" y="3383280"/>
            <a:ext cx="4114800" cy="146304"/>
            <a:chOff x="0" y="0"/>
            <a:chExt cx="5486400" cy="195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175504" y="3566160"/>
            <a:ext cx="3749040" cy="548640"/>
            <a:chOff x="0" y="0"/>
            <a:chExt cx="49987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6EB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VM 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175504" y="4059936"/>
            <a:ext cx="3749040" cy="640080"/>
            <a:chOff x="0" y="0"/>
            <a:chExt cx="499872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9987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Pandora FMS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175504" y="4718304"/>
            <a:ext cx="3749040" cy="54864"/>
            <a:chOff x="0" y="0"/>
            <a:chExt cx="4998720" cy="731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98720" cy="73152"/>
            </a:xfrm>
            <a:custGeom>
              <a:avLst/>
              <a:gdLst/>
              <a:ahLst/>
              <a:cxnLst/>
              <a:rect r="r" b="b" t="t" l="l"/>
              <a:pathLst>
                <a:path h="731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A6EBD">
                <a:alpha val="24706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175504" y="4846320"/>
            <a:ext cx="3749040" cy="1828800"/>
            <a:chOff x="0" y="0"/>
            <a:chExt cx="4998720" cy="2438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9987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9987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CPU · RAM · Disco · Red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Agentes SNMP · MySQL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175504" y="7223760"/>
            <a:ext cx="3749040" cy="512064"/>
            <a:chOff x="0" y="0"/>
            <a:chExt cx="499872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4901184" y="0"/>
                  </a:lnTo>
                  <a:cubicBezTo>
                    <a:pt x="4955032" y="0"/>
                    <a:pt x="4998720" y="43688"/>
                    <a:pt x="4998720" y="97536"/>
                  </a:cubicBezTo>
                  <a:lnTo>
                    <a:pt x="4998720" y="585216"/>
                  </a:lnTo>
                  <a:cubicBezTo>
                    <a:pt x="4998720" y="639064"/>
                    <a:pt x="4955032" y="682752"/>
                    <a:pt x="4901184" y="682752"/>
                  </a:cubicBezTo>
                  <a:lnTo>
                    <a:pt x="97536" y="682752"/>
                  </a:lnTo>
                  <a:cubicBezTo>
                    <a:pt x="43688" y="682752"/>
                    <a:pt x="0" y="639064"/>
                    <a:pt x="0" y="585216"/>
                  </a:cubicBezTo>
                  <a:close/>
                </a:path>
              </a:pathLst>
            </a:custGeom>
            <a:solidFill>
              <a:srgbClr val="0F294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175504" y="7223760"/>
            <a:ext cx="3749040" cy="512064"/>
            <a:chOff x="0" y="0"/>
            <a:chExt cx="4998720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658" r="0" b="-9265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998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6EBD"/>
                  </a:solidFill>
                  <a:latin typeface="Consolas"/>
                  <a:ea typeface="Consolas"/>
                  <a:cs typeface="Consolas"/>
                  <a:sym typeface="Consolas"/>
                </a:rPr>
                <a:t>10.2.1.167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45168" y="3383280"/>
            <a:ext cx="4114800" cy="4572000"/>
            <a:chOff x="0" y="0"/>
            <a:chExt cx="5486400" cy="6096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45168" y="3383280"/>
            <a:ext cx="4114800" cy="146304"/>
            <a:chOff x="0" y="0"/>
            <a:chExt cx="5486400" cy="1950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528048" y="3566160"/>
            <a:ext cx="3749040" cy="548640"/>
            <a:chOff x="0" y="0"/>
            <a:chExt cx="499872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VM 3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28048" y="4059936"/>
            <a:ext cx="3749040" cy="640080"/>
            <a:chOff x="0" y="0"/>
            <a:chExt cx="499872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9987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Gotify / ntfy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28048" y="4718304"/>
            <a:ext cx="3749040" cy="54864"/>
            <a:chOff x="0" y="0"/>
            <a:chExt cx="4998720" cy="731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998720" cy="73152"/>
            </a:xfrm>
            <a:custGeom>
              <a:avLst/>
              <a:gdLst/>
              <a:ahLst/>
              <a:cxnLst/>
              <a:rect r="r" b="b" t="t" l="l"/>
              <a:pathLst>
                <a:path h="731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B4D8">
                <a:alpha val="24706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528048" y="4846320"/>
            <a:ext cx="3749040" cy="1828800"/>
            <a:chOff x="0" y="0"/>
            <a:chExt cx="4998720" cy="2438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9987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9987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Notificaciones push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REST · Android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528048" y="7223760"/>
            <a:ext cx="3749040" cy="512064"/>
            <a:chOff x="0" y="0"/>
            <a:chExt cx="4998720" cy="68275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4901184" y="0"/>
                  </a:lnTo>
                  <a:cubicBezTo>
                    <a:pt x="4955032" y="0"/>
                    <a:pt x="4998720" y="43688"/>
                    <a:pt x="4998720" y="97536"/>
                  </a:cubicBezTo>
                  <a:lnTo>
                    <a:pt x="4998720" y="585216"/>
                  </a:lnTo>
                  <a:cubicBezTo>
                    <a:pt x="4998720" y="639064"/>
                    <a:pt x="4955032" y="682752"/>
                    <a:pt x="4901184" y="682752"/>
                  </a:cubicBezTo>
                  <a:lnTo>
                    <a:pt x="97536" y="682752"/>
                  </a:lnTo>
                  <a:cubicBezTo>
                    <a:pt x="43688" y="682752"/>
                    <a:pt x="0" y="639064"/>
                    <a:pt x="0" y="585216"/>
                  </a:cubicBezTo>
                  <a:close/>
                </a:path>
              </a:pathLst>
            </a:custGeom>
            <a:solidFill>
              <a:srgbClr val="0F294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528048" y="7223760"/>
            <a:ext cx="3749040" cy="512064"/>
            <a:chOff x="0" y="0"/>
            <a:chExt cx="499872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658" r="0" b="-9265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998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B4D8"/>
                  </a:solidFill>
                  <a:latin typeface="Consolas"/>
                  <a:ea typeface="Consolas"/>
                  <a:cs typeface="Consolas"/>
                  <a:sym typeface="Consolas"/>
                </a:rPr>
                <a:t>10.2.1.169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697712" y="3383280"/>
            <a:ext cx="4114800" cy="4572000"/>
            <a:chOff x="0" y="0"/>
            <a:chExt cx="5486400" cy="6096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4864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697712" y="3383280"/>
            <a:ext cx="4114800" cy="146304"/>
            <a:chOff x="0" y="0"/>
            <a:chExt cx="5486400" cy="1950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880592" y="3566160"/>
            <a:ext cx="3749040" cy="548640"/>
            <a:chOff x="0" y="0"/>
            <a:chExt cx="499872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VM 4-5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880592" y="4059936"/>
            <a:ext cx="3749040" cy="640080"/>
            <a:chOff x="0" y="0"/>
            <a:chExt cx="4998720" cy="853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49987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KS-Dashboard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880592" y="4718304"/>
            <a:ext cx="3749040" cy="54864"/>
            <a:chOff x="0" y="0"/>
            <a:chExt cx="4998720" cy="731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998720" cy="73152"/>
            </a:xfrm>
            <a:custGeom>
              <a:avLst/>
              <a:gdLst/>
              <a:ahLst/>
              <a:cxnLst/>
              <a:rect r="r" b="b" t="t" l="l"/>
              <a:pathLst>
                <a:path h="731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39C12">
                <a:alpha val="24706"/>
              </a:srgbClr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880592" y="4846320"/>
            <a:ext cx="3749040" cy="1828800"/>
            <a:chOff x="0" y="0"/>
            <a:chExt cx="4998720" cy="2438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9987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9987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Portal web nginx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 con Keepalived + VRRP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880592" y="7223760"/>
            <a:ext cx="3749040" cy="512064"/>
            <a:chOff x="0" y="0"/>
            <a:chExt cx="499872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4901184" y="0"/>
                  </a:lnTo>
                  <a:cubicBezTo>
                    <a:pt x="4955032" y="0"/>
                    <a:pt x="4998720" y="43688"/>
                    <a:pt x="4998720" y="97536"/>
                  </a:cubicBezTo>
                  <a:lnTo>
                    <a:pt x="4998720" y="585216"/>
                  </a:lnTo>
                  <a:cubicBezTo>
                    <a:pt x="4998720" y="639064"/>
                    <a:pt x="4955032" y="682752"/>
                    <a:pt x="4901184" y="682752"/>
                  </a:cubicBezTo>
                  <a:lnTo>
                    <a:pt x="97536" y="682752"/>
                  </a:lnTo>
                  <a:cubicBezTo>
                    <a:pt x="43688" y="682752"/>
                    <a:pt x="0" y="639064"/>
                    <a:pt x="0" y="585216"/>
                  </a:cubicBezTo>
                  <a:close/>
                </a:path>
              </a:pathLst>
            </a:custGeom>
            <a:solidFill>
              <a:srgbClr val="0F2942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880592" y="7223760"/>
            <a:ext cx="3749040" cy="512064"/>
            <a:chOff x="0" y="0"/>
            <a:chExt cx="4998720" cy="6827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658" r="0" b="-9265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4998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39C12"/>
                  </a:solidFill>
                  <a:latin typeface="Consolas"/>
                  <a:ea typeface="Consolas"/>
                  <a:cs typeface="Consolas"/>
                  <a:sym typeface="Consolas"/>
                </a:rPr>
                <a:t>10.2.1.165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40080" y="9052560"/>
            <a:ext cx="17007840" cy="640080"/>
            <a:chOff x="0" y="0"/>
            <a:chExt cx="22677120" cy="8534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677120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7745" r="0" b="-46774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226771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 LAN del centro  ·  Acceso web en puertos 3001 / 8080-8081 / 8006  ·  Sin exposición a Internet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02336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Stack tecnológico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499616"/>
            <a:ext cx="2926080" cy="91440"/>
            <a:chOff x="0" y="0"/>
            <a:chExt cx="3901440" cy="12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1440" cy="121920"/>
            </a:xfrm>
            <a:custGeom>
              <a:avLst/>
              <a:gdLst/>
              <a:ahLst/>
              <a:cxnLst/>
              <a:rect r="r" b="b" t="t" l="l"/>
              <a:pathLst>
                <a:path h="1219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0080" y="1920240"/>
            <a:ext cx="5669280" cy="3566160"/>
            <a:chOff x="0" y="0"/>
            <a:chExt cx="7559040" cy="4754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1920240"/>
            <a:ext cx="128016" cy="3566160"/>
            <a:chOff x="0" y="0"/>
            <a:chExt cx="170688" cy="4754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" cy="4754880"/>
            </a:xfrm>
            <a:custGeom>
              <a:avLst/>
              <a:gdLst/>
              <a:ahLst/>
              <a:cxnLst/>
              <a:rect r="r" b="b" t="t" l="l"/>
              <a:pathLst>
                <a:path h="47548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9264" y="2139696"/>
            <a:ext cx="4754880" cy="585216"/>
            <a:chOff x="0" y="0"/>
            <a:chExt cx="633984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33984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Proxmox VE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9264" y="2724912"/>
            <a:ext cx="4023360" cy="402336"/>
            <a:chOff x="0" y="0"/>
            <a:chExt cx="5364480" cy="5364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36448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HIPERVISOR TIPO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75504" y="2688336"/>
            <a:ext cx="914400" cy="402336"/>
            <a:chOff x="0" y="0"/>
            <a:chExt cx="1219200" cy="536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1121664" y="0"/>
                  </a:lnTo>
                  <a:cubicBezTo>
                    <a:pt x="1175512" y="0"/>
                    <a:pt x="1219200" y="43688"/>
                    <a:pt x="1219200" y="97536"/>
                  </a:cubicBezTo>
                  <a:lnTo>
                    <a:pt x="1219200" y="438912"/>
                  </a:lnTo>
                  <a:cubicBezTo>
                    <a:pt x="1219200" y="492760"/>
                    <a:pt x="1175512" y="536448"/>
                    <a:pt x="1121664" y="536448"/>
                  </a:cubicBezTo>
                  <a:lnTo>
                    <a:pt x="97536" y="536448"/>
                  </a:lnTo>
                  <a:cubicBezTo>
                    <a:pt x="43688" y="536448"/>
                    <a:pt x="0" y="492760"/>
                    <a:pt x="0" y="438912"/>
                  </a:cubicBezTo>
                  <a:close/>
                </a:path>
              </a:pathLst>
            </a:custGeom>
            <a:solidFill>
              <a:srgbClr val="0F294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175504" y="2688336"/>
            <a:ext cx="914400" cy="402336"/>
            <a:chOff x="0" y="0"/>
            <a:chExt cx="1219200" cy="5364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2192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AGPL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9264" y="3163824"/>
            <a:ext cx="4937760" cy="54864"/>
            <a:chOff x="0" y="0"/>
            <a:chExt cx="6583680" cy="731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0" cy="73152"/>
            </a:xfrm>
            <a:custGeom>
              <a:avLst/>
              <a:gdLst/>
              <a:ahLst/>
              <a:cxnLst/>
              <a:rect r="r" b="b" t="t" l="l"/>
              <a:pathLst>
                <a:path h="731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39C12">
                <a:alpha val="8627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9264" y="3310128"/>
            <a:ext cx="5157216" cy="1975104"/>
            <a:chOff x="0" y="0"/>
            <a:chExt cx="6876288" cy="26334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76288" cy="2633472"/>
            </a:xfrm>
            <a:custGeom>
              <a:avLst/>
              <a:gdLst/>
              <a:ahLst/>
              <a:cxnLst/>
              <a:rect r="r" b="b" t="t" l="l"/>
              <a:pathLst>
                <a:path h="263347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7" r="0" b="-87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876288" cy="2671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Virtualización KVM sobre Debian. Gestión web en puerto 8006. Aísla cada servicio en su propia VM.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547104" y="1920240"/>
            <a:ext cx="5669280" cy="3566160"/>
            <a:chOff x="0" y="0"/>
            <a:chExt cx="7559040" cy="4754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547104" y="1920240"/>
            <a:ext cx="128016" cy="3566160"/>
            <a:chOff x="0" y="0"/>
            <a:chExt cx="170688" cy="4754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688" cy="4754880"/>
            </a:xfrm>
            <a:custGeom>
              <a:avLst/>
              <a:gdLst/>
              <a:ahLst/>
              <a:cxnLst/>
              <a:rect r="r" b="b" t="t" l="l"/>
              <a:pathLst>
                <a:path h="47548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76288" y="2139696"/>
            <a:ext cx="4754880" cy="585216"/>
            <a:chOff x="0" y="0"/>
            <a:chExt cx="633984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33984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Uptime Kuma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76288" y="2724912"/>
            <a:ext cx="4023360" cy="402336"/>
            <a:chOff x="0" y="0"/>
            <a:chExt cx="5364480" cy="5364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536448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DISPONIBILIDAD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082528" y="2688336"/>
            <a:ext cx="914400" cy="402336"/>
            <a:chOff x="0" y="0"/>
            <a:chExt cx="1219200" cy="5364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1121664" y="0"/>
                  </a:lnTo>
                  <a:cubicBezTo>
                    <a:pt x="1175512" y="0"/>
                    <a:pt x="1219200" y="43688"/>
                    <a:pt x="1219200" y="97536"/>
                  </a:cubicBezTo>
                  <a:lnTo>
                    <a:pt x="1219200" y="438912"/>
                  </a:lnTo>
                  <a:cubicBezTo>
                    <a:pt x="1219200" y="492760"/>
                    <a:pt x="1175512" y="536448"/>
                    <a:pt x="1121664" y="536448"/>
                  </a:cubicBezTo>
                  <a:lnTo>
                    <a:pt x="97536" y="536448"/>
                  </a:lnTo>
                  <a:cubicBezTo>
                    <a:pt x="43688" y="536448"/>
                    <a:pt x="0" y="492760"/>
                    <a:pt x="0" y="438912"/>
                  </a:cubicBezTo>
                  <a:close/>
                </a:path>
              </a:pathLst>
            </a:custGeom>
            <a:solidFill>
              <a:srgbClr val="0F294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082528" y="2688336"/>
            <a:ext cx="914400" cy="402336"/>
            <a:chOff x="0" y="0"/>
            <a:chExt cx="1219200" cy="5364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2192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76288" y="3163824"/>
            <a:ext cx="4937760" cy="54864"/>
            <a:chOff x="0" y="0"/>
            <a:chExt cx="6583680" cy="731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0" cy="73152"/>
            </a:xfrm>
            <a:custGeom>
              <a:avLst/>
              <a:gdLst/>
              <a:ahLst/>
              <a:cxnLst/>
              <a:rect r="r" b="b" t="t" l="l"/>
              <a:pathLst>
                <a:path h="731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ECC71">
                <a:alpha val="8627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76288" y="3310128"/>
            <a:ext cx="5157216" cy="1975104"/>
            <a:chOff x="0" y="0"/>
            <a:chExt cx="6876288" cy="26334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76288" cy="2633472"/>
            </a:xfrm>
            <a:custGeom>
              <a:avLst/>
              <a:gdLst/>
              <a:ahLst/>
              <a:cxnLst/>
              <a:rect r="r" b="b" t="t" l="l"/>
              <a:pathLst>
                <a:path h="263347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7" r="0" b="-87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876288" cy="2671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Monitorización HTTP/S, TCP, DNS y Ping. Panel visual en tiempo real. Desplegado en Docker.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54128" y="1920240"/>
            <a:ext cx="5669280" cy="3566160"/>
            <a:chOff x="0" y="0"/>
            <a:chExt cx="7559040" cy="47548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454128" y="1920240"/>
            <a:ext cx="128016" cy="3566160"/>
            <a:chOff x="0" y="0"/>
            <a:chExt cx="170688" cy="4754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0688" cy="4754880"/>
            </a:xfrm>
            <a:custGeom>
              <a:avLst/>
              <a:gdLst/>
              <a:ahLst/>
              <a:cxnLst/>
              <a:rect r="r" b="b" t="t" l="l"/>
              <a:pathLst>
                <a:path h="47548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783312" y="2139696"/>
            <a:ext cx="4754880" cy="585216"/>
            <a:chOff x="0" y="0"/>
            <a:chExt cx="6339840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33984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Pandora FMS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783312" y="2724912"/>
            <a:ext cx="4023360" cy="402336"/>
            <a:chOff x="0" y="0"/>
            <a:chExt cx="5364480" cy="5364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536448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A6EB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RENDIMIENTO AVANZADO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989552" y="2688336"/>
            <a:ext cx="914400" cy="402336"/>
            <a:chOff x="0" y="0"/>
            <a:chExt cx="1219200" cy="5364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1121664" y="0"/>
                  </a:lnTo>
                  <a:cubicBezTo>
                    <a:pt x="1175512" y="0"/>
                    <a:pt x="1219200" y="43688"/>
                    <a:pt x="1219200" y="97536"/>
                  </a:cubicBezTo>
                  <a:lnTo>
                    <a:pt x="1219200" y="438912"/>
                  </a:lnTo>
                  <a:cubicBezTo>
                    <a:pt x="1219200" y="492760"/>
                    <a:pt x="1175512" y="536448"/>
                    <a:pt x="1121664" y="536448"/>
                  </a:cubicBezTo>
                  <a:lnTo>
                    <a:pt x="97536" y="536448"/>
                  </a:lnTo>
                  <a:cubicBezTo>
                    <a:pt x="43688" y="536448"/>
                    <a:pt x="0" y="492760"/>
                    <a:pt x="0" y="438912"/>
                  </a:cubicBezTo>
                  <a:close/>
                </a:path>
              </a:pathLst>
            </a:custGeom>
            <a:solidFill>
              <a:srgbClr val="0F294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989552" y="2688336"/>
            <a:ext cx="914400" cy="402336"/>
            <a:chOff x="0" y="0"/>
            <a:chExt cx="1219200" cy="5364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2192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783312" y="3163824"/>
            <a:ext cx="4937760" cy="54864"/>
            <a:chOff x="0" y="0"/>
            <a:chExt cx="6583680" cy="731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0" cy="73152"/>
            </a:xfrm>
            <a:custGeom>
              <a:avLst/>
              <a:gdLst/>
              <a:ahLst/>
              <a:cxnLst/>
              <a:rect r="r" b="b" t="t" l="l"/>
              <a:pathLst>
                <a:path h="731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A6EBD">
                <a:alpha val="8627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783312" y="3310128"/>
            <a:ext cx="5157216" cy="1975104"/>
            <a:chOff x="0" y="0"/>
            <a:chExt cx="6876288" cy="26334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76288" cy="2633472"/>
            </a:xfrm>
            <a:custGeom>
              <a:avLst/>
              <a:gdLst/>
              <a:ahLst/>
              <a:cxnLst/>
              <a:rect r="r" b="b" t="t" l="l"/>
              <a:pathLst>
                <a:path h="263347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7" r="0" b="-87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876288" cy="2671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Agentes en VMs para CPU, RAM y disco. Protocolo SNMP para switches. Base de datos MySQL.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40080" y="5852160"/>
            <a:ext cx="5669280" cy="3566160"/>
            <a:chOff x="0" y="0"/>
            <a:chExt cx="7559040" cy="47548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40080" y="5852160"/>
            <a:ext cx="128016" cy="3566160"/>
            <a:chOff x="0" y="0"/>
            <a:chExt cx="170688" cy="47548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70688" cy="4754880"/>
            </a:xfrm>
            <a:custGeom>
              <a:avLst/>
              <a:gdLst/>
              <a:ahLst/>
              <a:cxnLst/>
              <a:rect r="r" b="b" t="t" l="l"/>
              <a:pathLst>
                <a:path h="47548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69264" y="6071616"/>
            <a:ext cx="4754880" cy="585216"/>
            <a:chOff x="0" y="0"/>
            <a:chExt cx="6339840" cy="780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33984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Gotify / ntfy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9264" y="6656832"/>
            <a:ext cx="4023360" cy="402336"/>
            <a:chOff x="0" y="0"/>
            <a:chExt cx="5364480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536448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ALERTAS PUSH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175504" y="6620256"/>
            <a:ext cx="914400" cy="402336"/>
            <a:chOff x="0" y="0"/>
            <a:chExt cx="1219200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1121664" y="0"/>
                  </a:lnTo>
                  <a:cubicBezTo>
                    <a:pt x="1175512" y="0"/>
                    <a:pt x="1219200" y="43688"/>
                    <a:pt x="1219200" y="97536"/>
                  </a:cubicBezTo>
                  <a:lnTo>
                    <a:pt x="1219200" y="438912"/>
                  </a:lnTo>
                  <a:cubicBezTo>
                    <a:pt x="1219200" y="492760"/>
                    <a:pt x="1175512" y="536448"/>
                    <a:pt x="1121664" y="536448"/>
                  </a:cubicBezTo>
                  <a:lnTo>
                    <a:pt x="97536" y="536448"/>
                  </a:lnTo>
                  <a:cubicBezTo>
                    <a:pt x="43688" y="536448"/>
                    <a:pt x="0" y="492760"/>
                    <a:pt x="0" y="438912"/>
                  </a:cubicBezTo>
                  <a:close/>
                </a:path>
              </a:pathLst>
            </a:custGeom>
            <a:solidFill>
              <a:srgbClr val="0F2942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5175504" y="6620256"/>
            <a:ext cx="914400" cy="402336"/>
            <a:chOff x="0" y="0"/>
            <a:chExt cx="1219200" cy="5364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12192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MIT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69264" y="7095744"/>
            <a:ext cx="4937760" cy="54864"/>
            <a:chOff x="0" y="0"/>
            <a:chExt cx="6583680" cy="731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583680" cy="73152"/>
            </a:xfrm>
            <a:custGeom>
              <a:avLst/>
              <a:gdLst/>
              <a:ahLst/>
              <a:cxnLst/>
              <a:rect r="r" b="b" t="t" l="l"/>
              <a:pathLst>
                <a:path h="731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0B4D8">
                <a:alpha val="8627"/>
              </a:srgbClr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69264" y="7242048"/>
            <a:ext cx="5157216" cy="1975104"/>
            <a:chOff x="0" y="0"/>
            <a:chExt cx="6876288" cy="263347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876288" cy="2633472"/>
            </a:xfrm>
            <a:custGeom>
              <a:avLst/>
              <a:gdLst/>
              <a:ahLst/>
              <a:cxnLst/>
              <a:rect r="r" b="b" t="t" l="l"/>
              <a:pathLst>
                <a:path h="263347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7" r="0" b="-87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6876288" cy="2671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Servidor autoalojado sin dependencias externas. API REST. Bot Telegram. Integrado con Uptime Kuma.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547104" y="5852160"/>
            <a:ext cx="5669280" cy="3566160"/>
            <a:chOff x="0" y="0"/>
            <a:chExt cx="7559040" cy="47548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547104" y="5852160"/>
            <a:ext cx="128016" cy="3566160"/>
            <a:chOff x="0" y="0"/>
            <a:chExt cx="170688" cy="47548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70688" cy="4754880"/>
            </a:xfrm>
            <a:custGeom>
              <a:avLst/>
              <a:gdLst/>
              <a:ahLst/>
              <a:cxnLst/>
              <a:rect r="r" b="b" t="t" l="l"/>
              <a:pathLst>
                <a:path h="47548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876288" y="6071616"/>
            <a:ext cx="4754880" cy="585216"/>
            <a:chOff x="0" y="0"/>
            <a:chExt cx="6339840" cy="78028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633984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KeePassXC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876288" y="6656832"/>
            <a:ext cx="4023360" cy="402336"/>
            <a:chOff x="0" y="0"/>
            <a:chExt cx="5364480" cy="53644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536448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DE CREDENCIALES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082528" y="6620256"/>
            <a:ext cx="914400" cy="402336"/>
            <a:chOff x="0" y="0"/>
            <a:chExt cx="1219200" cy="53644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1121664" y="0"/>
                  </a:lnTo>
                  <a:cubicBezTo>
                    <a:pt x="1175512" y="0"/>
                    <a:pt x="1219200" y="43688"/>
                    <a:pt x="1219200" y="97536"/>
                  </a:cubicBezTo>
                  <a:lnTo>
                    <a:pt x="1219200" y="438912"/>
                  </a:lnTo>
                  <a:cubicBezTo>
                    <a:pt x="1219200" y="492760"/>
                    <a:pt x="1175512" y="536448"/>
                    <a:pt x="1121664" y="536448"/>
                  </a:cubicBezTo>
                  <a:lnTo>
                    <a:pt x="97536" y="536448"/>
                  </a:lnTo>
                  <a:cubicBezTo>
                    <a:pt x="43688" y="536448"/>
                    <a:pt x="0" y="492760"/>
                    <a:pt x="0" y="438912"/>
                  </a:cubicBezTo>
                  <a:close/>
                </a:path>
              </a:pathLst>
            </a:custGeom>
            <a:solidFill>
              <a:srgbClr val="0F2942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1082528" y="6620256"/>
            <a:ext cx="914400" cy="402336"/>
            <a:chOff x="0" y="0"/>
            <a:chExt cx="1219200" cy="53644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12192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GPL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876288" y="7095744"/>
            <a:ext cx="4937760" cy="54864"/>
            <a:chOff x="0" y="0"/>
            <a:chExt cx="6583680" cy="731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583680" cy="73152"/>
            </a:xfrm>
            <a:custGeom>
              <a:avLst/>
              <a:gdLst/>
              <a:ahLst/>
              <a:cxnLst/>
              <a:rect r="r" b="b" t="t" l="l"/>
              <a:pathLst>
                <a:path h="731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A855F7">
                <a:alpha val="8627"/>
              </a:srgbClr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876288" y="7242048"/>
            <a:ext cx="5157216" cy="1975104"/>
            <a:chOff x="0" y="0"/>
            <a:chExt cx="6876288" cy="263347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876288" cy="2633472"/>
            </a:xfrm>
            <a:custGeom>
              <a:avLst/>
              <a:gdLst/>
              <a:ahLst/>
              <a:cxnLst/>
              <a:rect r="r" b="b" t="t" l="l"/>
              <a:pathLst>
                <a:path h="263347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7" r="0" b="-87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6876288" cy="2671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de datos cifrada con todas las contraseñas del sistema.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454128" y="5852160"/>
            <a:ext cx="5669280" cy="3566160"/>
            <a:chOff x="0" y="0"/>
            <a:chExt cx="7559040" cy="47548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454128" y="5852160"/>
            <a:ext cx="128016" cy="3566160"/>
            <a:chOff x="0" y="0"/>
            <a:chExt cx="170688" cy="47548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70688" cy="4754880"/>
            </a:xfrm>
            <a:custGeom>
              <a:avLst/>
              <a:gdLst/>
              <a:ahLst/>
              <a:cxnLst/>
              <a:rect r="r" b="b" t="t" l="l"/>
              <a:pathLst>
                <a:path h="47548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783312" y="6071616"/>
            <a:ext cx="4754880" cy="585216"/>
            <a:chOff x="0" y="0"/>
            <a:chExt cx="6339840" cy="78028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633984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Keepalived + lsyncd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783312" y="6656832"/>
            <a:ext cx="4023360" cy="402336"/>
            <a:chOff x="0" y="0"/>
            <a:chExt cx="5364480" cy="5364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536448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ALTA DISPONIBILIDAD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6989552" y="6620256"/>
            <a:ext cx="914400" cy="402336"/>
            <a:chOff x="0" y="0"/>
            <a:chExt cx="1219200" cy="53644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1121664" y="0"/>
                  </a:lnTo>
                  <a:cubicBezTo>
                    <a:pt x="1175512" y="0"/>
                    <a:pt x="1219200" y="43688"/>
                    <a:pt x="1219200" y="97536"/>
                  </a:cubicBezTo>
                  <a:lnTo>
                    <a:pt x="1219200" y="438912"/>
                  </a:lnTo>
                  <a:cubicBezTo>
                    <a:pt x="1219200" y="492760"/>
                    <a:pt x="1175512" y="536448"/>
                    <a:pt x="1121664" y="536448"/>
                  </a:cubicBezTo>
                  <a:lnTo>
                    <a:pt x="97536" y="536448"/>
                  </a:lnTo>
                  <a:cubicBezTo>
                    <a:pt x="43688" y="536448"/>
                    <a:pt x="0" y="492760"/>
                    <a:pt x="0" y="438912"/>
                  </a:cubicBezTo>
                  <a:close/>
                </a:path>
              </a:pathLst>
            </a:custGeom>
            <a:solidFill>
              <a:srgbClr val="0F2942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6989552" y="6620256"/>
            <a:ext cx="914400" cy="402336"/>
            <a:chOff x="0" y="0"/>
            <a:chExt cx="1219200" cy="5364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2192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12192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783312" y="7095744"/>
            <a:ext cx="4937760" cy="54864"/>
            <a:chOff x="0" y="0"/>
            <a:chExt cx="6583680" cy="7315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583680" cy="73152"/>
            </a:xfrm>
            <a:custGeom>
              <a:avLst/>
              <a:gdLst/>
              <a:ahLst/>
              <a:cxnLst/>
              <a:rect r="r" b="b" t="t" l="l"/>
              <a:pathLst>
                <a:path h="731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39C12">
                <a:alpha val="8627"/>
              </a:srgbClr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783312" y="7242048"/>
            <a:ext cx="5157216" cy="1975104"/>
            <a:chOff x="0" y="0"/>
            <a:chExt cx="6876288" cy="263347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876288" cy="2633472"/>
            </a:xfrm>
            <a:custGeom>
              <a:avLst/>
              <a:gdLst/>
              <a:ahLst/>
              <a:cxnLst/>
              <a:rect r="r" b="b" t="t" l="l"/>
              <a:pathLst>
                <a:path h="263347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7" r="0" b="-877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6876288" cy="2671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VRRP entre nodo MASTER y BACKUP. Failover &lt; 3 seg. Sincronización de contenido con rsync/SSH.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02336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¿Por qué estas herramientas?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499616"/>
            <a:ext cx="4389120" cy="91440"/>
            <a:chOff x="0" y="0"/>
            <a:chExt cx="5852160" cy="12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2160" cy="121920"/>
            </a:xfrm>
            <a:custGeom>
              <a:avLst/>
              <a:gdLst/>
              <a:ahLst/>
              <a:cxnLst/>
              <a:rect r="r" b="b" t="t" l="l"/>
              <a:pathLst>
                <a:path h="1219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0080" y="1920240"/>
            <a:ext cx="4169664" cy="694944"/>
            <a:chOff x="0" y="0"/>
            <a:chExt cx="5559552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59552" cy="926592"/>
            </a:xfrm>
            <a:custGeom>
              <a:avLst/>
              <a:gdLst/>
              <a:ahLst/>
              <a:cxnLst/>
              <a:rect r="r" b="b" t="t" l="l"/>
              <a:pathLst>
                <a:path h="92659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1920240"/>
            <a:ext cx="4169664" cy="694944"/>
            <a:chOff x="0" y="0"/>
            <a:chExt cx="5559552" cy="926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59552" cy="926592"/>
            </a:xfrm>
            <a:custGeom>
              <a:avLst/>
              <a:gdLst/>
              <a:ahLst/>
              <a:cxnLst/>
              <a:rect r="r" b="b" t="t" l="l"/>
              <a:pathLst>
                <a:path h="92659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55955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VIRTUALIZACIÓN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0080" y="2834640"/>
            <a:ext cx="4169664" cy="1920240"/>
            <a:chOff x="0" y="0"/>
            <a:chExt cx="5559552" cy="2560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A152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3017520"/>
            <a:ext cx="3749040" cy="640080"/>
            <a:chOff x="0" y="0"/>
            <a:chExt cx="49987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VMware ESXi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3712464"/>
            <a:ext cx="3749040" cy="822960"/>
            <a:chOff x="0" y="0"/>
            <a:chExt cx="499872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Licencia costosa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5029200"/>
            <a:ext cx="4169664" cy="1920240"/>
            <a:chOff x="0" y="0"/>
            <a:chExt cx="5559552" cy="2560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A152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5212080"/>
            <a:ext cx="3749040" cy="640080"/>
            <a:chOff x="0" y="0"/>
            <a:chExt cx="499872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Hyper-V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5907024"/>
            <a:ext cx="3749040" cy="822960"/>
            <a:chOff x="0" y="0"/>
            <a:chExt cx="499872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Requiere Windows Server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0080" y="7223760"/>
            <a:ext cx="4169664" cy="1920240"/>
            <a:chOff x="0" y="0"/>
            <a:chExt cx="5559552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0080" y="7223760"/>
            <a:ext cx="128016" cy="1920240"/>
            <a:chOff x="0" y="0"/>
            <a:chExt cx="170688" cy="25603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688" cy="2560320"/>
            </a:xfrm>
            <a:custGeom>
              <a:avLst/>
              <a:gdLst/>
              <a:ahLst/>
              <a:cxnLst/>
              <a:rect r="r" b="b" t="t" l="l"/>
              <a:pathLst>
                <a:path h="25603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9264" y="7406640"/>
            <a:ext cx="3749040" cy="640080"/>
            <a:chOff x="0" y="0"/>
            <a:chExt cx="499872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Proxmox VE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9264" y="8101584"/>
            <a:ext cx="3749040" cy="822960"/>
            <a:chOff x="0" y="0"/>
            <a:chExt cx="499872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39C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 source · KVM · Web UI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9264" y="8723376"/>
            <a:ext cx="3291840" cy="329184"/>
            <a:chOff x="0" y="0"/>
            <a:chExt cx="4389120" cy="4389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89120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389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ELEGIDO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065776" y="1920240"/>
            <a:ext cx="4169664" cy="694944"/>
            <a:chOff x="0" y="0"/>
            <a:chExt cx="5559552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59552" cy="926592"/>
            </a:xfrm>
            <a:custGeom>
              <a:avLst/>
              <a:gdLst/>
              <a:ahLst/>
              <a:cxnLst/>
              <a:rect r="r" b="b" t="t" l="l"/>
              <a:pathLst>
                <a:path h="92659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065776" y="1920240"/>
            <a:ext cx="4169664" cy="694944"/>
            <a:chOff x="0" y="0"/>
            <a:chExt cx="5559552" cy="926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59552" cy="926592"/>
            </a:xfrm>
            <a:custGeom>
              <a:avLst/>
              <a:gdLst/>
              <a:ahLst/>
              <a:cxnLst/>
              <a:rect r="r" b="b" t="t" l="l"/>
              <a:pathLst>
                <a:path h="92659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55955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DISPONIBILIDAD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065776" y="2834640"/>
            <a:ext cx="4169664" cy="1920240"/>
            <a:chOff x="0" y="0"/>
            <a:chExt cx="5559552" cy="25603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A1525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248656" y="3017520"/>
            <a:ext cx="3749040" cy="640080"/>
            <a:chOff x="0" y="0"/>
            <a:chExt cx="4998720" cy="853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Nagios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248656" y="3712464"/>
            <a:ext cx="3749040" cy="822960"/>
            <a:chOff x="0" y="0"/>
            <a:chExt cx="499872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Potente pero muy complejo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065776" y="5029200"/>
            <a:ext cx="4169664" cy="1920240"/>
            <a:chOff x="0" y="0"/>
            <a:chExt cx="5559552" cy="25603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A152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248656" y="5212080"/>
            <a:ext cx="3749040" cy="640080"/>
            <a:chOff x="0" y="0"/>
            <a:chExt cx="499872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Zabbix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248656" y="5907024"/>
            <a:ext cx="3749040" cy="822960"/>
            <a:chOff x="0" y="0"/>
            <a:chExt cx="499872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Curva de aprendizaje alta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065776" y="7223760"/>
            <a:ext cx="4169664" cy="1920240"/>
            <a:chOff x="0" y="0"/>
            <a:chExt cx="5559552" cy="25603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065776" y="7223760"/>
            <a:ext cx="128016" cy="1920240"/>
            <a:chOff x="0" y="0"/>
            <a:chExt cx="170688" cy="25603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0688" cy="2560320"/>
            </a:xfrm>
            <a:custGeom>
              <a:avLst/>
              <a:gdLst/>
              <a:ahLst/>
              <a:cxnLst/>
              <a:rect r="r" b="b" t="t" l="l"/>
              <a:pathLst>
                <a:path h="25603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394960" y="7406640"/>
            <a:ext cx="3749040" cy="640080"/>
            <a:chOff x="0" y="0"/>
            <a:chExt cx="4998720" cy="8534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Uptime Kuma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394960" y="8101584"/>
            <a:ext cx="3749040" cy="822960"/>
            <a:chOff x="0" y="0"/>
            <a:chExt cx="499872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ECC7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· UI moderna · rápido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394960" y="8723376"/>
            <a:ext cx="3291840" cy="329184"/>
            <a:chOff x="0" y="0"/>
            <a:chExt cx="4389120" cy="43891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389120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389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ELEGIDO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491472" y="1920240"/>
            <a:ext cx="4169664" cy="694944"/>
            <a:chOff x="0" y="0"/>
            <a:chExt cx="5559552" cy="9265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559552" cy="926592"/>
            </a:xfrm>
            <a:custGeom>
              <a:avLst/>
              <a:gdLst/>
              <a:ahLst/>
              <a:cxnLst/>
              <a:rect r="r" b="b" t="t" l="l"/>
              <a:pathLst>
                <a:path h="92659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491472" y="1920240"/>
            <a:ext cx="4169664" cy="694944"/>
            <a:chOff x="0" y="0"/>
            <a:chExt cx="5559552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559552" cy="926592"/>
            </a:xfrm>
            <a:custGeom>
              <a:avLst/>
              <a:gdLst/>
              <a:ahLst/>
              <a:cxnLst/>
              <a:rect r="r" b="b" t="t" l="l"/>
              <a:pathLst>
                <a:path h="92659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55955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RENDIMIENTO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91472" y="2834640"/>
            <a:ext cx="4169664" cy="1920240"/>
            <a:chOff x="0" y="0"/>
            <a:chExt cx="5559552" cy="25603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A1525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674352" y="3017520"/>
            <a:ext cx="3749040" cy="640080"/>
            <a:chOff x="0" y="0"/>
            <a:chExt cx="4998720" cy="8534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Zabbix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674352" y="3712464"/>
            <a:ext cx="3749040" cy="822960"/>
            <a:chOff x="0" y="0"/>
            <a:chExt cx="4998720" cy="10972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Completo pero pesado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491472" y="5029200"/>
            <a:ext cx="4169664" cy="1920240"/>
            <a:chOff x="0" y="0"/>
            <a:chExt cx="5559552" cy="25603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A1525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674352" y="5212080"/>
            <a:ext cx="3749040" cy="640080"/>
            <a:chOff x="0" y="0"/>
            <a:chExt cx="4998720" cy="8534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Checkmk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674352" y="5907024"/>
            <a:ext cx="3749040" cy="822960"/>
            <a:chOff x="0" y="0"/>
            <a:chExt cx="4998720" cy="10972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Edición free limitada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491472" y="7223760"/>
            <a:ext cx="4169664" cy="1920240"/>
            <a:chOff x="0" y="0"/>
            <a:chExt cx="5559552" cy="25603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91472" y="7223760"/>
            <a:ext cx="128016" cy="1920240"/>
            <a:chOff x="0" y="0"/>
            <a:chExt cx="170688" cy="25603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0688" cy="2560320"/>
            </a:xfrm>
            <a:custGeom>
              <a:avLst/>
              <a:gdLst/>
              <a:ahLst/>
              <a:cxnLst/>
              <a:rect r="r" b="b" t="t" l="l"/>
              <a:pathLst>
                <a:path h="25603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820656" y="7406640"/>
            <a:ext cx="3749040" cy="640080"/>
            <a:chOff x="0" y="0"/>
            <a:chExt cx="4998720" cy="8534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Pandora FMS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820656" y="8101584"/>
            <a:ext cx="3749040" cy="822960"/>
            <a:chOff x="0" y="0"/>
            <a:chExt cx="4998720" cy="10972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6E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Community GPL · SNMP · agentes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820656" y="8723376"/>
            <a:ext cx="3291840" cy="329184"/>
            <a:chOff x="0" y="0"/>
            <a:chExt cx="4389120" cy="43891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389120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4389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1A6EB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ELEGIDO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3917168" y="1920240"/>
            <a:ext cx="4169664" cy="694944"/>
            <a:chOff x="0" y="0"/>
            <a:chExt cx="5559552" cy="92659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559552" cy="926592"/>
            </a:xfrm>
            <a:custGeom>
              <a:avLst/>
              <a:gdLst/>
              <a:ahLst/>
              <a:cxnLst/>
              <a:rect r="r" b="b" t="t" l="l"/>
              <a:pathLst>
                <a:path h="92659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917168" y="1920240"/>
            <a:ext cx="4169664" cy="694944"/>
            <a:chOff x="0" y="0"/>
            <a:chExt cx="5559552" cy="92659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559552" cy="926592"/>
            </a:xfrm>
            <a:custGeom>
              <a:avLst/>
              <a:gdLst/>
              <a:ahLst/>
              <a:cxnLst/>
              <a:rect r="r" b="b" t="t" l="l"/>
              <a:pathLst>
                <a:path h="92659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555955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NOTIFICACIONES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3917168" y="7223760"/>
            <a:ext cx="4169664" cy="1920240"/>
            <a:chOff x="0" y="0"/>
            <a:chExt cx="5559552" cy="256032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3917168" y="7223760"/>
            <a:ext cx="128016" cy="1920240"/>
            <a:chOff x="0" y="0"/>
            <a:chExt cx="170688" cy="25603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70688" cy="2560320"/>
            </a:xfrm>
            <a:custGeom>
              <a:avLst/>
              <a:gdLst/>
              <a:ahLst/>
              <a:cxnLst/>
              <a:rect r="r" b="b" t="t" l="l"/>
              <a:pathLst>
                <a:path h="25603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4246352" y="7406640"/>
            <a:ext cx="3749040" cy="640080"/>
            <a:chOff x="0" y="0"/>
            <a:chExt cx="4998720" cy="8534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Gotify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4246352" y="8101584"/>
            <a:ext cx="3749040" cy="822960"/>
            <a:chOff x="0" y="0"/>
            <a:chExt cx="4998720" cy="109728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REST · Android · MIT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246352" y="8723376"/>
            <a:ext cx="3291840" cy="329184"/>
            <a:chOff x="0" y="0"/>
            <a:chExt cx="4389120" cy="43891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389120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4389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ELEGIDO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3917168" y="5029200"/>
            <a:ext cx="4169664" cy="1920240"/>
            <a:chOff x="0" y="0"/>
            <a:chExt cx="5559552" cy="256032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3917168" y="5029200"/>
            <a:ext cx="128016" cy="1920240"/>
            <a:chOff x="0" y="0"/>
            <a:chExt cx="170688" cy="256032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70688" cy="2560320"/>
            </a:xfrm>
            <a:custGeom>
              <a:avLst/>
              <a:gdLst/>
              <a:ahLst/>
              <a:cxnLst/>
              <a:rect r="r" b="b" t="t" l="l"/>
              <a:pathLst>
                <a:path h="25603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4246352" y="5212080"/>
            <a:ext cx="3749040" cy="640080"/>
            <a:chOff x="0" y="0"/>
            <a:chExt cx="4998720" cy="8534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ntfy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4246352" y="5907024"/>
            <a:ext cx="3749040" cy="822960"/>
            <a:chOff x="0" y="0"/>
            <a:chExt cx="4998720" cy="109728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Autoalojado </a:t>
              </a:r>
              <a:r>
                <a:rPr lang="en-US" sz="18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más básico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4246352" y="6528816"/>
            <a:ext cx="3291840" cy="329184"/>
            <a:chOff x="0" y="0"/>
            <a:chExt cx="4389120" cy="43891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389120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4389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ELEGIDO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3918311" y="2834640"/>
            <a:ext cx="4169664" cy="1920240"/>
            <a:chOff x="0" y="0"/>
            <a:chExt cx="5559552" cy="256032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55955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3918311" y="2834640"/>
            <a:ext cx="128016" cy="1920240"/>
            <a:chOff x="0" y="0"/>
            <a:chExt cx="170688" cy="256032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70688" cy="2560320"/>
            </a:xfrm>
            <a:custGeom>
              <a:avLst/>
              <a:gdLst/>
              <a:ahLst/>
              <a:cxnLst/>
              <a:rect r="r" b="b" t="t" l="l"/>
              <a:pathLst>
                <a:path h="25603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4247495" y="3017520"/>
            <a:ext cx="3749040" cy="640080"/>
            <a:chOff x="0" y="0"/>
            <a:chExt cx="4998720" cy="85344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99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47625"/>
              <a:ext cx="4998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Telegram B</a:t>
              </a: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ot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4247495" y="3712464"/>
            <a:ext cx="3749040" cy="822960"/>
            <a:chOff x="0" y="0"/>
            <a:chExt cx="4998720" cy="109728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Accesible · Rápido · Android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4247495" y="4334256"/>
            <a:ext cx="3291840" cy="329184"/>
            <a:chOff x="0" y="0"/>
            <a:chExt cx="4389120" cy="438912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4389120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4389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00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ELEGIDO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02336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Flujo de alertas — demo en vivo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499616"/>
            <a:ext cx="4023360" cy="91440"/>
            <a:chOff x="0" y="0"/>
            <a:chExt cx="5364480" cy="12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4480" cy="121920"/>
            </a:xfrm>
            <a:custGeom>
              <a:avLst/>
              <a:gdLst/>
              <a:ahLst/>
              <a:cxnLst/>
              <a:rect r="r" b="b" t="t" l="l"/>
              <a:pathLst>
                <a:path h="1219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0080" y="2011680"/>
            <a:ext cx="3200400" cy="5852160"/>
            <a:chOff x="0" y="0"/>
            <a:chExt cx="4267200" cy="7802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67200" cy="7802880"/>
            </a:xfrm>
            <a:custGeom>
              <a:avLst/>
              <a:gdLst/>
              <a:ahLst/>
              <a:cxnLst/>
              <a:rect r="r" b="b" t="t" l="l"/>
              <a:pathLst>
                <a:path h="780288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2011680"/>
            <a:ext cx="3200400" cy="109728"/>
            <a:chOff x="0" y="0"/>
            <a:chExt cx="4267200" cy="1463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7200" cy="146304"/>
            </a:xfrm>
            <a:custGeom>
              <a:avLst/>
              <a:gdLst/>
              <a:ahLst/>
              <a:cxnLst/>
              <a:rect r="r" b="b" t="t" l="l"/>
              <a:pathLst>
                <a:path h="14630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91640" y="2286000"/>
            <a:ext cx="1097280" cy="1097280"/>
            <a:chOff x="0" y="0"/>
            <a:chExt cx="146304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91640" y="2286000"/>
            <a:ext cx="1097280" cy="1097280"/>
            <a:chOff x="0" y="0"/>
            <a:chExt cx="146304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6304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657600"/>
            <a:ext cx="2834640" cy="1005840"/>
            <a:chOff x="0" y="0"/>
            <a:chExt cx="377952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79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7795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Fallo simulado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4754880"/>
            <a:ext cx="2834640" cy="2560320"/>
            <a:chOff x="0" y="0"/>
            <a:chExt cx="3779520" cy="3413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795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887" t="0" r="-6588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779520" cy="3451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Apagamos una VM o cortamos el servicio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785616" y="4114800"/>
            <a:ext cx="365760" cy="731520"/>
            <a:chOff x="0" y="0"/>
            <a:chExt cx="48768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4876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E74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78224" y="2011680"/>
            <a:ext cx="3200400" cy="5852160"/>
            <a:chOff x="0" y="0"/>
            <a:chExt cx="4267200" cy="7802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67200" cy="7802880"/>
            </a:xfrm>
            <a:custGeom>
              <a:avLst/>
              <a:gdLst/>
              <a:ahLst/>
              <a:cxnLst/>
              <a:rect r="r" b="b" t="t" l="l"/>
              <a:pathLst>
                <a:path h="780288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078224" y="2011680"/>
            <a:ext cx="3200400" cy="109728"/>
            <a:chOff x="0" y="0"/>
            <a:chExt cx="4267200" cy="1463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67200" cy="146304"/>
            </a:xfrm>
            <a:custGeom>
              <a:avLst/>
              <a:gdLst/>
              <a:ahLst/>
              <a:cxnLst/>
              <a:rect r="r" b="b" t="t" l="l"/>
              <a:pathLst>
                <a:path h="14630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129784" y="2286000"/>
            <a:ext cx="1097280" cy="1097280"/>
            <a:chOff x="0" y="0"/>
            <a:chExt cx="146304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129784" y="2286000"/>
            <a:ext cx="1097280" cy="1097280"/>
            <a:chOff x="0" y="0"/>
            <a:chExt cx="146304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46304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261104" y="3657600"/>
            <a:ext cx="2834640" cy="1005840"/>
            <a:chOff x="0" y="0"/>
            <a:chExt cx="3779520" cy="1341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79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7795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Detección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261104" y="4754880"/>
            <a:ext cx="2834640" cy="2560320"/>
            <a:chOff x="0" y="0"/>
            <a:chExt cx="3779520" cy="34137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795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887" t="0" r="-6588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779520" cy="3451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Uptime Kuma / Pandora detectan la caída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223760" y="4114800"/>
            <a:ext cx="365760" cy="731520"/>
            <a:chOff x="0" y="0"/>
            <a:chExt cx="487680" cy="975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4876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F39C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516368" y="2011680"/>
            <a:ext cx="3200400" cy="5852160"/>
            <a:chOff x="0" y="0"/>
            <a:chExt cx="4267200" cy="7802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67200" cy="7802880"/>
            </a:xfrm>
            <a:custGeom>
              <a:avLst/>
              <a:gdLst/>
              <a:ahLst/>
              <a:cxnLst/>
              <a:rect r="r" b="b" t="t" l="l"/>
              <a:pathLst>
                <a:path h="780288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516368" y="2011680"/>
            <a:ext cx="3200400" cy="109728"/>
            <a:chOff x="0" y="0"/>
            <a:chExt cx="4267200" cy="1463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67200" cy="146304"/>
            </a:xfrm>
            <a:custGeom>
              <a:avLst/>
              <a:gdLst/>
              <a:ahLst/>
              <a:cxnLst/>
              <a:rect r="r" b="b" t="t" l="l"/>
              <a:pathLst>
                <a:path h="14630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567928" y="2286000"/>
            <a:ext cx="1097280" cy="1097280"/>
            <a:chOff x="0" y="0"/>
            <a:chExt cx="146304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567928" y="2286000"/>
            <a:ext cx="1097280" cy="1097280"/>
            <a:chOff x="0" y="0"/>
            <a:chExt cx="1463040" cy="1463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46304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699248" y="3657600"/>
            <a:ext cx="2834640" cy="1005840"/>
            <a:chOff x="0" y="0"/>
            <a:chExt cx="3779520" cy="13411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79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7795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Alerta generada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699248" y="4754880"/>
            <a:ext cx="2834640" cy="2560320"/>
            <a:chOff x="0" y="0"/>
            <a:chExt cx="3779520" cy="34137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7795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887" t="0" r="-65887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779520" cy="3451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sistema crea la notificación push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661904" y="4114800"/>
            <a:ext cx="365760" cy="731520"/>
            <a:chOff x="0" y="0"/>
            <a:chExt cx="48768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4876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1A6E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954512" y="2011680"/>
            <a:ext cx="3200400" cy="5852160"/>
            <a:chOff x="0" y="0"/>
            <a:chExt cx="4267200" cy="78028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67200" cy="7802880"/>
            </a:xfrm>
            <a:custGeom>
              <a:avLst/>
              <a:gdLst/>
              <a:ahLst/>
              <a:cxnLst/>
              <a:rect r="r" b="b" t="t" l="l"/>
              <a:pathLst>
                <a:path h="780288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954512" y="2011680"/>
            <a:ext cx="3200400" cy="109728"/>
            <a:chOff x="0" y="0"/>
            <a:chExt cx="4267200" cy="1463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267200" cy="146304"/>
            </a:xfrm>
            <a:custGeom>
              <a:avLst/>
              <a:gdLst/>
              <a:ahLst/>
              <a:cxnLst/>
              <a:rect r="r" b="b" t="t" l="l"/>
              <a:pathLst>
                <a:path h="14630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006072" y="2286000"/>
            <a:ext cx="1097280" cy="1097280"/>
            <a:chOff x="0" y="0"/>
            <a:chExt cx="1463040" cy="14630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006072" y="2286000"/>
            <a:ext cx="1097280" cy="1097280"/>
            <a:chOff x="0" y="0"/>
            <a:chExt cx="1463040" cy="14630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46304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137392" y="3657600"/>
            <a:ext cx="2834640" cy="1005840"/>
            <a:chOff x="0" y="0"/>
            <a:chExt cx="3779520" cy="13411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779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7795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Gotify / Telegram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137392" y="4754880"/>
            <a:ext cx="2834640" cy="2560320"/>
            <a:chOff x="0" y="0"/>
            <a:chExt cx="3779520" cy="34137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7795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887" t="0" r="-65887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779520" cy="3451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aviso llega al móvil en &lt; 60 seg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100048" y="4114800"/>
            <a:ext cx="365760" cy="731520"/>
            <a:chOff x="0" y="0"/>
            <a:chExt cx="487680" cy="975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4876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392656" y="2011680"/>
            <a:ext cx="3200400" cy="5852160"/>
            <a:chOff x="0" y="0"/>
            <a:chExt cx="4267200" cy="78028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267200" cy="7802880"/>
            </a:xfrm>
            <a:custGeom>
              <a:avLst/>
              <a:gdLst/>
              <a:ahLst/>
              <a:cxnLst/>
              <a:rect r="r" b="b" t="t" l="l"/>
              <a:pathLst>
                <a:path h="780288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4392656" y="2011680"/>
            <a:ext cx="3200400" cy="109728"/>
            <a:chOff x="0" y="0"/>
            <a:chExt cx="4267200" cy="14630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267200" cy="146304"/>
            </a:xfrm>
            <a:custGeom>
              <a:avLst/>
              <a:gdLst/>
              <a:ahLst/>
              <a:cxnLst/>
              <a:rect r="r" b="b" t="t" l="l"/>
              <a:pathLst>
                <a:path h="14630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5444216" y="2286000"/>
            <a:ext cx="1097280" cy="1097280"/>
            <a:chOff x="0" y="0"/>
            <a:chExt cx="1463040" cy="14630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5444216" y="2286000"/>
            <a:ext cx="1097280" cy="1097280"/>
            <a:chOff x="0" y="0"/>
            <a:chExt cx="1463040" cy="14630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46304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575536" y="3657600"/>
            <a:ext cx="2834640" cy="1005840"/>
            <a:chOff x="0" y="0"/>
            <a:chExt cx="3779520" cy="13411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779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7795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Recuperación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575536" y="4754880"/>
            <a:ext cx="2834640" cy="2560320"/>
            <a:chOff x="0" y="0"/>
            <a:chExt cx="3779520" cy="34137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7795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887" t="0" r="-65887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779520" cy="3451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Servicio restaurado · estado vuelve a verde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40080" y="8321040"/>
            <a:ext cx="17007840" cy="1371600"/>
            <a:chOff x="0" y="0"/>
            <a:chExt cx="22677120" cy="18288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677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6771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2482048" y="0"/>
                  </a:lnTo>
                  <a:cubicBezTo>
                    <a:pt x="22589744" y="0"/>
                    <a:pt x="22677120" y="87376"/>
                    <a:pt x="22677120" y="195072"/>
                  </a:cubicBezTo>
                  <a:lnTo>
                    <a:pt x="22677120" y="1633728"/>
                  </a:lnTo>
                  <a:cubicBezTo>
                    <a:pt x="22677120" y="1741424"/>
                    <a:pt x="22589744" y="1828800"/>
                    <a:pt x="22482048" y="1828800"/>
                  </a:cubicBezTo>
                  <a:lnTo>
                    <a:pt x="195072" y="1828800"/>
                  </a:lnTo>
                  <a:cubicBezTo>
                    <a:pt x="87376" y="1828800"/>
                    <a:pt x="0" y="1741424"/>
                    <a:pt x="0" y="1633728"/>
                  </a:cubicBezTo>
                  <a:close/>
                </a:path>
              </a:pathLst>
            </a:custGeom>
            <a:solidFill>
              <a:srgbClr val="0D2035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005840" y="8321040"/>
            <a:ext cx="16459200" cy="1371600"/>
            <a:chOff x="0" y="0"/>
            <a:chExt cx="21945600" cy="1828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219456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 Durante la demo veremos este flujo completo en vivo: caída detectada → alerta en Gotify → mensaje en Telegram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02336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Valoración económica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499616"/>
            <a:ext cx="3291840" cy="91440"/>
            <a:chOff x="0" y="0"/>
            <a:chExt cx="4389120" cy="12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121920"/>
            </a:xfrm>
            <a:custGeom>
              <a:avLst/>
              <a:gdLst/>
              <a:ahLst/>
              <a:cxnLst/>
              <a:rect r="r" b="b" t="t" l="l"/>
              <a:pathLst>
                <a:path h="1219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0080" y="1920240"/>
            <a:ext cx="5486400" cy="7040880"/>
            <a:chOff x="0" y="0"/>
            <a:chExt cx="7315200" cy="9387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15200" cy="9387840"/>
            </a:xfrm>
            <a:custGeom>
              <a:avLst/>
              <a:gdLst/>
              <a:ahLst/>
              <a:cxnLst/>
              <a:rect r="r" b="b" t="t" l="l"/>
              <a:pathLst>
                <a:path h="9387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2468880"/>
            <a:ext cx="5486400" cy="2560320"/>
            <a:chOff x="0" y="0"/>
            <a:chExt cx="7315200" cy="3413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75" t="0" r="-9875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731520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80"/>
                </a:lnSpc>
              </a:pPr>
              <a:r>
                <a:rPr lang="en-US" sz="14400" b="true">
                  <a:solidFill>
                    <a:srgbClr val="2EC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0 €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0080" y="5029200"/>
            <a:ext cx="5486400" cy="731520"/>
            <a:chOff x="0" y="0"/>
            <a:chExt cx="73152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3152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spc="3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COSTE TOTAL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" y="5943600"/>
            <a:ext cx="4754880" cy="54864"/>
            <a:chOff x="0" y="0"/>
            <a:chExt cx="6339840" cy="731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39840" cy="73152"/>
            </a:xfrm>
            <a:custGeom>
              <a:avLst/>
              <a:gdLst/>
              <a:ahLst/>
              <a:cxnLst/>
              <a:rect r="r" b="b" t="t" l="l"/>
              <a:pathLst>
                <a:path h="7315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A6EBD">
                <a:alpha val="24706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6126480"/>
            <a:ext cx="5486400" cy="1554480"/>
            <a:chOff x="0" y="0"/>
            <a:chExt cx="7315200" cy="2072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70" r="0" b="-187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3152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Hardware donado por FCT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Software 100% open source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7772400"/>
            <a:ext cx="5486400" cy="822960"/>
            <a:chOff x="0" y="0"/>
            <a:chExt cx="73152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F39C1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~1.000 € valor de mercado</a:t>
              </a:r>
            </a:p>
          </p:txBody>
        </p:sp>
      </p:grp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6675120" y="1920240"/>
          <a:ext cx="10947400" cy="6045200"/>
        </p:xfrm>
        <a:graphic>
          <a:graphicData uri="http://schemas.openxmlformats.org/drawingml/2006/table">
            <a:tbl>
              <a:tblPr/>
              <a:tblGrid>
                <a:gridCol w="3279198"/>
                <a:gridCol w="4002329"/>
                <a:gridCol w="1832936"/>
                <a:gridCol w="1832936"/>
              </a:tblGrid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Componente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Solución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Licencia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Coste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Servidor físico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Prestado por el centro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0 €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Hipervisor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Proxmox VE 8.x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AGPL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0 €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Disponibilidad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Uptime Kuma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0 €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Rendimiento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Pandora FMS Community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GPL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0 €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Notificaciones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Gotify + ntfy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0 €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Credenciales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KeePassXC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GPL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8F1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0 €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grpSp>
        <p:nvGrpSpPr>
          <p:cNvPr name="Group 24" id="24"/>
          <p:cNvGrpSpPr/>
          <p:nvPr/>
        </p:nvGrpSpPr>
        <p:grpSpPr>
          <a:xfrm rot="0">
            <a:off x="6675120" y="1920240"/>
            <a:ext cx="10972800" cy="877824"/>
            <a:chOff x="0" y="0"/>
            <a:chExt cx="14630400" cy="11704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821424" y="1920240"/>
            <a:ext cx="3145536" cy="877824"/>
            <a:chOff x="0" y="0"/>
            <a:chExt cx="4194048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940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194048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Componente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113264" y="1920240"/>
            <a:ext cx="3877056" cy="877824"/>
            <a:chOff x="0" y="0"/>
            <a:chExt cx="5169408" cy="1170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69408" cy="1170432"/>
            </a:xfrm>
            <a:custGeom>
              <a:avLst/>
              <a:gdLst/>
              <a:ahLst/>
              <a:cxnLst/>
              <a:rect r="r" b="b" t="t" l="l"/>
              <a:pathLst>
                <a:path h="1170432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169408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Solución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136624" y="1920240"/>
            <a:ext cx="1682496" cy="877824"/>
            <a:chOff x="0" y="0"/>
            <a:chExt cx="2243328" cy="11704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43328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40" t="0" r="-1694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243328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Licencia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965424" y="1920240"/>
            <a:ext cx="1682496" cy="877824"/>
            <a:chOff x="0" y="0"/>
            <a:chExt cx="2243328" cy="11704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43328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40" t="0" r="-1694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243328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402336"/>
            <a:ext cx="16824960" cy="1005840"/>
            <a:chOff x="0" y="0"/>
            <a:chExt cx="224332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433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499616"/>
            <a:ext cx="2377440" cy="91440"/>
            <a:chOff x="0" y="0"/>
            <a:chExt cx="3169920" cy="121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121920"/>
            </a:xfrm>
            <a:custGeom>
              <a:avLst/>
              <a:gdLst/>
              <a:ahLst/>
              <a:cxnLst/>
              <a:rect r="r" b="b" t="t" l="l"/>
              <a:pathLst>
                <a:path h="1219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1920240"/>
            <a:ext cx="16824960" cy="1060704"/>
            <a:chOff x="0" y="0"/>
            <a:chExt cx="22433280" cy="14142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33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920240"/>
            <a:ext cx="109728" cy="1060704"/>
            <a:chOff x="0" y="0"/>
            <a:chExt cx="146304" cy="141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60704" y="1920240"/>
            <a:ext cx="914400" cy="1060704"/>
            <a:chOff x="0" y="0"/>
            <a:chExt cx="1219200" cy="141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832" t="0" r="-9883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2192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03120" y="1920240"/>
            <a:ext cx="15179040" cy="1060704"/>
            <a:chOff x="0" y="0"/>
            <a:chExt cx="20238720" cy="14142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387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837" r="0" b="-22883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387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Sistema profesional y funcional construido con coste cero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3163824"/>
            <a:ext cx="16824960" cy="1060704"/>
            <a:chOff x="0" y="0"/>
            <a:chExt cx="22433280" cy="1414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33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31520" y="3163824"/>
            <a:ext cx="109728" cy="1060704"/>
            <a:chOff x="0" y="0"/>
            <a:chExt cx="146304" cy="14142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60704" y="3163824"/>
            <a:ext cx="914400" cy="1060704"/>
            <a:chOff x="0" y="0"/>
            <a:chExt cx="1219200" cy="14142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832" t="0" r="-9883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2192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🔔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103120" y="3163824"/>
            <a:ext cx="15179040" cy="1060704"/>
            <a:chOff x="0" y="0"/>
            <a:chExt cx="20238720" cy="14142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2387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837" r="0" b="-2288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2387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gestión reactiva a alertas proactivas en tiempo real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4407408"/>
            <a:ext cx="16824960" cy="1060704"/>
            <a:chOff x="0" y="0"/>
            <a:chExt cx="22433280" cy="14142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433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31520" y="4407408"/>
            <a:ext cx="109728" cy="1060704"/>
            <a:chOff x="0" y="0"/>
            <a:chExt cx="146304" cy="14142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A6EB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60704" y="4407408"/>
            <a:ext cx="914400" cy="1060704"/>
            <a:chOff x="0" y="0"/>
            <a:chExt cx="1219200" cy="14142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832" t="0" r="-9883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2192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🏗️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103120" y="4407408"/>
            <a:ext cx="15179040" cy="1060704"/>
            <a:chOff x="0" y="0"/>
            <a:chExt cx="20238720" cy="14142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2387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837" r="0" b="-2288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02387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Infraestructura virtualizada escalable con Proxmox VE + Docker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31520" y="5650992"/>
            <a:ext cx="16824960" cy="1060704"/>
            <a:chOff x="0" y="0"/>
            <a:chExt cx="22433280" cy="14142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433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31520" y="5650992"/>
            <a:ext cx="109728" cy="1060704"/>
            <a:chOff x="0" y="0"/>
            <a:chExt cx="146304" cy="14142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60704" y="5650992"/>
            <a:ext cx="914400" cy="1060704"/>
            <a:chOff x="0" y="0"/>
            <a:chExt cx="1219200" cy="14142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192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832" t="0" r="-98832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2192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103120" y="5650992"/>
            <a:ext cx="15179040" cy="1060704"/>
            <a:chOff x="0" y="0"/>
            <a:chExt cx="20238720" cy="14142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2387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837" r="0" b="-22883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2387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Seguridad: contraseñas robustas, aislamiento por VM, acceso sólo LAN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31520" y="6894576"/>
            <a:ext cx="16824960" cy="1060704"/>
            <a:chOff x="0" y="0"/>
            <a:chExt cx="22433280" cy="14142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33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31520" y="6894576"/>
            <a:ext cx="109728" cy="1060704"/>
            <a:chOff x="0" y="0"/>
            <a:chExt cx="146304" cy="14142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60704" y="6894576"/>
            <a:ext cx="914400" cy="1060704"/>
            <a:chOff x="0" y="0"/>
            <a:chExt cx="1219200" cy="14142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192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832" t="0" r="-9883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2192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103120" y="6894576"/>
            <a:ext cx="15179040" cy="1060704"/>
            <a:chOff x="0" y="0"/>
            <a:chExt cx="20238720" cy="14142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2387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837" r="0" b="-2288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02387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Alta disponibilidad: Keepalived + VRRP, failover &lt; 3 segundos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31520" y="8138160"/>
            <a:ext cx="16824960" cy="1060704"/>
            <a:chOff x="0" y="0"/>
            <a:chExt cx="22433280" cy="14142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433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62032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731520" y="8138160"/>
            <a:ext cx="109728" cy="1060704"/>
            <a:chOff x="0" y="0"/>
            <a:chExt cx="146304" cy="141427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60704" y="8138160"/>
            <a:ext cx="914400" cy="1060704"/>
            <a:chOff x="0" y="0"/>
            <a:chExt cx="1219200" cy="14142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192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8832" t="0" r="-98832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1219200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📂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103120" y="8138160"/>
            <a:ext cx="15179040" cy="1060704"/>
            <a:chOff x="0" y="0"/>
            <a:chExt cx="20238720" cy="14142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2387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837" r="0" b="-22883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02387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  <a:r>
                <a:rPr lang="en-US" sz="2400">
                  <a:solidFill>
                    <a:srgbClr val="E8F1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cripts públicos en GitHub para reproducibilidad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31520" y="9326880"/>
            <a:ext cx="16824960" cy="640080"/>
            <a:chOff x="0" y="0"/>
            <a:chExt cx="22433280" cy="8534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22433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🔗  github.com/Spectre6090/Proyecto-KS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DAHKlkopmD0</dc:identifier>
  <dcterms:modified xsi:type="dcterms:W3CDTF">2011-08-01T06:04:30Z</dcterms:modified>
  <cp:revision>1</cp:revision>
  <dc:title>SISTEMAS DE MONITORIZACIÓN</dc:title>
</cp:coreProperties>
</file>